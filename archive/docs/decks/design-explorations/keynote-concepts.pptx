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147483627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B1D46-8E8A-4241-83A9-5D13396B4662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85D2E-9C86-44C9-99B5-3DC5AB2BF8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788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CONCEPT 1: Community opener. Preserve the event hero, mascot, shirt mark and GitHub cube. Title arrives with the slide; location follows. This is a visual direction sample, not the final keynote.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85D2E-9C86-44C9-99B5-3DC5AB2BF81D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941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CONCEPT 2: Statement and reveal. Start with "From writing code." Click once to reveal "To directing the work." The official 3D Copilot is retained. Narration: Copilot spans assistance and delegation; people remain accountable for scope, review and delivery.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85D2E-9C86-44C9-99B5-3DC5AB2BF81D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8134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CONCEPT 3: High-key ecosystem beat. No miniature screenshot grid, decorative rails, or boxed cards. The three surfaces are an illustrative selection, not the full ecosystem. IDE and CLI permissions/workspace capabilities differ; the App supports both local and cloud workflows. Do not imply universal feature parity.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85D2E-9C86-44C9-99B5-3DC5AB2BF81D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5275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/>
              <a:t>CONCEPT 4: Native product footage. Imported from official source slide 11, preserving the embedded video and its animation/playback tree. Headline and caption are retargeted in place. This concept demonstrates reuse, not a promise that playback has been rehearsed. Rehearse in Slide Show on the event machine.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2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9574-18A0-E981-F56E-5BA664E7D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25CD6-7599-9C2C-B12B-5BDCD432A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3026-2559-58C3-D2C7-6818E345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3A34-EC34-7DCD-9290-5CC118CD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3B8B6-29F0-42ED-45E2-83C7DD76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093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3E32-2E01-0FC3-BF6D-BFF4569F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87B51-C636-9D21-9B27-73136059F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023-06CA-37B6-6476-EFC6BC27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B5A5A-57BE-00C8-ABDD-E56D4606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5E16D-E2A1-E443-EF73-E561D3AF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838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DD0-8601-7998-3EB2-480E808FA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788F6-ED03-5B48-5A0E-0F4F3BB6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15C7F-3058-A706-07CC-EC78DED5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9D7EF-C50C-F6CA-4535-28765005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EB0A-D7F0-D905-4A8D-6F0D55C1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741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EACC-944C-26AE-35B7-016D04C6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3B1BD-EB9D-2661-6EEC-1851977D7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108E1-00B4-7E0B-1A3C-BCD7C7A63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4E663-485F-C7E2-B077-A2112F10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6C1A1-43A3-FB04-45A7-D8B335FA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83BCE-D6BA-ECE3-4FA5-38F10530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269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7C53-A627-C6DF-E50F-EDE5D717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243AA-E4DF-572E-70F6-6F9C80F31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C49D2-0B01-372B-6AFE-83FA40AF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61A5-2AB8-7547-C15C-36BB76927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1F64E-F4B2-2CAC-952E-05A26E9C4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07A0D-2AA2-42DB-94BF-F2A0B7E10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78E2D-2211-90F6-AD95-0010A27C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ECA0E-41CB-3BE8-BE51-99DEB1B1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60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68A0-44AA-A0E4-498E-F9D14867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A6441-9391-C7CC-7AB2-A6A01098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EF6AA-B540-2F98-8F2F-8A0C3DD2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51E1B-B87D-04E3-C079-22A40800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93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9E39B-6584-2D2E-A1BE-6B986A9F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3C9B6-AEA3-9E0F-A35B-5CB91089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CF176-3A66-5432-68FA-A0A8AC28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789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59E0-EDA4-3EA0-9A26-EF368DB6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B5B5-9F1D-CF3E-E2DC-85C465F4E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1F201-A86C-B923-31C4-E3ECAD4B4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CC96E-E899-8E4B-8E12-60973E97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DD13D-B2EB-6419-5418-ACFDA5D7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B33EE-1B37-D7B2-7F45-636D7974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54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C915-6B48-69EF-35C1-6B2DB8E77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A1499-3309-E5CF-AE6E-41C6937152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3729C-8AB1-342A-F226-89B20A4FB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C9A8D-FE88-E60D-7C68-B3DB94FF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3911C-8A6E-69E2-6E0D-C98DFD57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ED67D-7D64-70D7-EA1A-CEAB8E18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197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9B9A-97A4-9F1D-C78A-B26924B5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2F6DB-65D5-4874-C261-E6B0DF8D4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5CD8B-D0B2-14F1-428A-8CB6178D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3D4C-CA50-E60D-1079-D7545924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70C8-52FF-EE66-49F5-26CEE61C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395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A0EF8-08C3-EC30-3EDC-F2C1E8F71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1C491-E240-2BC5-8F5B-9577F084A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7110-D4B3-BEA1-EAFE-69C02AB1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2C3B6-9E0B-2D2A-67A7-5F749CF7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CBA32-F8A8-8F02-EC2E-C7AA8DFA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7327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imag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B48DDF7-AECB-429E-30C3-63D9A783C5F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128" y="2332943"/>
            <a:ext cx="11375007" cy="3702731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37" y="398216"/>
            <a:ext cx="11388724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558E79-07EE-ED96-7F8B-7DD69226D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825" y="6530993"/>
            <a:ext cx="260299" cy="251679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D4E1238-CA0E-8DAD-9C8A-CD2ACBBAD5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337" y="796205"/>
            <a:ext cx="11384280" cy="1133856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47469044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2B800-775E-486E-7216-0682DD00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ABBB-0087-5C83-1595-1584288FA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19D19-17A0-05A8-A093-8ECDF834B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E9AE-8A94-4B3E-A668-F1C5731B52F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F6926-5DF7-DE2C-CF9C-063EEE51D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4D106-C8AF-0D17-6AEF-B377E881C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6BE3C-820F-43CD-802B-07BC7189634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917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DE723-FCA0-EDFF-87DD-9E03F49C23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" b="769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FF038E-82EC-8940-9FAB-18A06B609480}"/>
              </a:ext>
            </a:extLst>
          </p:cNvPr>
          <p:cNvSpPr txBox="1"/>
          <p:nvPr/>
        </p:nvSpPr>
        <p:spPr>
          <a:xfrm>
            <a:off x="502920" y="502920"/>
            <a:ext cx="196596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4800" b="1">
                <a:solidFill>
                  <a:srgbClr val="FFFFFF"/>
                </a:solidFill>
                <a:latin typeface="Arial" panose="020B0604020202020204" pitchFamily="34" charset="0"/>
              </a:rPr>
              <a:t>DEV</a:t>
            </a:r>
          </a:p>
          <a:p>
            <a:r>
              <a:rPr lang="en-ZA" sz="4800" b="1">
                <a:solidFill>
                  <a:srgbClr val="FFFFFF"/>
                </a:solidFill>
                <a:latin typeface="Arial" panose="020B0604020202020204" pitchFamily="34" charset="0"/>
              </a:rPr>
              <a:t>DAYS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E927A-272D-8C9B-EF68-84EFA66B6472}"/>
              </a:ext>
            </a:extLst>
          </p:cNvPr>
          <p:cNvSpPr txBox="1"/>
          <p:nvPr/>
        </p:nvSpPr>
        <p:spPr>
          <a:xfrm>
            <a:off x="530352" y="2377440"/>
            <a:ext cx="196596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200" b="1">
                <a:solidFill>
                  <a:srgbClr val="8CF2A9"/>
                </a:solidFill>
                <a:latin typeface="Arial" panose="020B0604020202020204" pitchFamily="34" charset="0"/>
              </a:rPr>
              <a:t>CAPE TOWN</a:t>
            </a:r>
          </a:p>
          <a:p>
            <a:r>
              <a:rPr lang="en-ZA" sz="2200" b="1">
                <a:solidFill>
                  <a:srgbClr val="8CF2A9"/>
                </a:solidFill>
                <a:latin typeface="Arial" panose="020B0604020202020204" pitchFamily="34" charset="0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E4494-09FF-D898-EF6E-CC8F6F909565}"/>
              </a:ext>
            </a:extLst>
          </p:cNvPr>
          <p:cNvSpPr txBox="1"/>
          <p:nvPr/>
        </p:nvSpPr>
        <p:spPr>
          <a:xfrm>
            <a:off x="548640" y="6080760"/>
            <a:ext cx="640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3 OCTOBER  /  BBD CAPE TOWN</a:t>
            </a:r>
            <a:endParaRPr lang="en-ZA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27BEA-99E4-1177-531D-D9DEF173FC78}"/>
              </a:ext>
            </a:extLst>
          </p:cNvPr>
          <p:cNvSpPr txBox="1"/>
          <p:nvPr/>
        </p:nvSpPr>
        <p:spPr>
          <a:xfrm>
            <a:off x="548640" y="6428232"/>
            <a:ext cx="6400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1500">
                <a:solidFill>
                  <a:srgbClr val="BFFFD1"/>
                </a:solidFill>
                <a:latin typeface="Arial" panose="020B0604020202020204" pitchFamily="34" charset="0"/>
              </a:rPr>
              <a:t>A day for builders.</a:t>
            </a:r>
          </a:p>
        </p:txBody>
      </p:sp>
    </p:spTree>
    <p:extLst>
      <p:ext uri="{BB962C8B-B14F-4D97-AF65-F5344CB8AC3E}">
        <p14:creationId xmlns:p14="http://schemas.microsoft.com/office/powerpoint/2010/main" val="4067022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D188B0-E442-953A-32C7-471C738731C1}"/>
              </a:ext>
            </a:extLst>
          </p:cNvPr>
          <p:cNvSpPr txBox="1"/>
          <p:nvPr/>
        </p:nvSpPr>
        <p:spPr>
          <a:xfrm>
            <a:off x="640080" y="594360"/>
            <a:ext cx="731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b="1">
                <a:solidFill>
                  <a:srgbClr val="BFFFD1"/>
                </a:solidFill>
                <a:latin typeface="Arial" panose="020B0604020202020204" pitchFamily="34" charset="0"/>
              </a:rPr>
              <a:t>GITHUB COPILOT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86D9E-D157-6EFC-F3EA-EB022003618E}"/>
              </a:ext>
            </a:extLst>
          </p:cNvPr>
          <p:cNvSpPr txBox="1"/>
          <p:nvPr/>
        </p:nvSpPr>
        <p:spPr>
          <a:xfrm>
            <a:off x="594360" y="1463040"/>
            <a:ext cx="713232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6400" b="1">
                <a:solidFill>
                  <a:srgbClr val="FFFFFF"/>
                </a:solidFill>
                <a:latin typeface="Arial" panose="020B0604020202020204" pitchFamily="34" charset="0"/>
              </a:rPr>
              <a:t>From writing</a:t>
            </a:r>
          </a:p>
          <a:p>
            <a:r>
              <a:rPr lang="en-ZA" sz="6400" b="1">
                <a:solidFill>
                  <a:srgbClr val="FFFFFF"/>
                </a:solidFill>
                <a:latin typeface="Arial" panose="020B0604020202020204" pitchFamily="34" charset="0"/>
              </a:rPr>
              <a:t>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8164E-8D16-1009-DC84-285ADCE4F45C}"/>
              </a:ext>
            </a:extLst>
          </p:cNvPr>
          <p:cNvSpPr txBox="1"/>
          <p:nvPr/>
        </p:nvSpPr>
        <p:spPr>
          <a:xfrm>
            <a:off x="594360" y="3474720"/>
            <a:ext cx="749808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6400" b="1">
                <a:solidFill>
                  <a:srgbClr val="8CF2A9"/>
                </a:solidFill>
                <a:latin typeface="Arial" panose="020B0604020202020204" pitchFamily="34" charset="0"/>
              </a:rPr>
              <a:t>To directing</a:t>
            </a:r>
          </a:p>
          <a:p>
            <a:r>
              <a:rPr lang="en-ZA" sz="6400" b="1">
                <a:solidFill>
                  <a:srgbClr val="8CF2A9"/>
                </a:solidFill>
                <a:latin typeface="Arial" panose="020B0604020202020204" pitchFamily="34" charset="0"/>
              </a:rPr>
              <a:t>the 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19C3D-92F7-AB55-4ECF-796093A9C95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0" y="1508760"/>
            <a:ext cx="43891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A5EDE-BF50-A9DC-18CB-EF9AEF17FFA0}"/>
              </a:ext>
            </a:extLst>
          </p:cNvPr>
          <p:cNvSpPr txBox="1"/>
          <p:nvPr/>
        </p:nvSpPr>
        <p:spPr>
          <a:xfrm>
            <a:off x="594360" y="594360"/>
            <a:ext cx="1078992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800" b="1">
                <a:solidFill>
                  <a:srgbClr val="101411"/>
                </a:solidFill>
                <a:latin typeface="Arial" panose="020B0604020202020204" pitchFamily="34" charset="0"/>
              </a:rPr>
              <a:t>One Copilot.</a:t>
            </a:r>
          </a:p>
          <a:p>
            <a:r>
              <a:rPr lang="en-US" sz="4800" b="1">
                <a:solidFill>
                  <a:srgbClr val="101411"/>
                </a:solidFill>
                <a:latin typeface="Arial" panose="020B0604020202020204" pitchFamily="34" charset="0"/>
              </a:rPr>
              <a:t>Different ways to work.</a:t>
            </a:r>
            <a:endParaRPr lang="en-ZA" sz="4800" b="1">
              <a:solidFill>
                <a:srgbClr val="101411"/>
              </a:solidFill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3C0B8B-4F56-E057-42DC-1D584EF73741}"/>
              </a:ext>
            </a:extLst>
          </p:cNvPr>
          <p:cNvSpPr/>
          <p:nvPr/>
        </p:nvSpPr>
        <p:spPr>
          <a:xfrm>
            <a:off x="640080" y="2788920"/>
            <a:ext cx="685800" cy="685800"/>
          </a:xfrm>
          <a:prstGeom prst="ellipse">
            <a:avLst/>
          </a:prstGeom>
          <a:solidFill>
            <a:srgbClr val="0E68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7FBF2-33DE-7B1D-2EE3-670A087CD23F}"/>
              </a:ext>
            </a:extLst>
          </p:cNvPr>
          <p:cNvSpPr txBox="1"/>
          <p:nvPr/>
        </p:nvSpPr>
        <p:spPr>
          <a:xfrm>
            <a:off x="749808" y="2944368"/>
            <a:ext cx="5029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0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C4670-4B66-2CE0-7665-89B19A0D412C}"/>
              </a:ext>
            </a:extLst>
          </p:cNvPr>
          <p:cNvSpPr txBox="1"/>
          <p:nvPr/>
        </p:nvSpPr>
        <p:spPr>
          <a:xfrm>
            <a:off x="640080" y="374904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400" b="1">
                <a:solidFill>
                  <a:srgbClr val="0E6836"/>
                </a:solidFill>
                <a:latin typeface="Arial" panose="020B0604020202020204" pitchFamily="34" charset="0"/>
              </a:rPr>
              <a:t>IDE + CLI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9B74D-E407-2550-DC13-8D13FEF1C18F}"/>
              </a:ext>
            </a:extLst>
          </p:cNvPr>
          <p:cNvSpPr txBox="1"/>
          <p:nvPr/>
        </p:nvSpPr>
        <p:spPr>
          <a:xfrm>
            <a:off x="640080" y="4389120"/>
            <a:ext cx="324612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3200" b="1">
                <a:solidFill>
                  <a:srgbClr val="101411"/>
                </a:solidFill>
                <a:latin typeface="Arial" panose="020B0604020202020204" pitchFamily="34" charset="0"/>
              </a:rPr>
              <a:t>Stay in your 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02A5D-7D2E-99AB-F568-031F2A537C68}"/>
              </a:ext>
            </a:extLst>
          </p:cNvPr>
          <p:cNvSpPr txBox="1"/>
          <p:nvPr/>
        </p:nvSpPr>
        <p:spPr>
          <a:xfrm>
            <a:off x="640080" y="5532120"/>
            <a:ext cx="3200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Work interactively in your</a:t>
            </a:r>
          </a:p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editor or terminal.</a:t>
            </a:r>
            <a:endParaRPr lang="en-ZA">
              <a:solidFill>
                <a:srgbClr val="232925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577BB0-2C30-FA7A-6D8E-694721A4C91D}"/>
              </a:ext>
            </a:extLst>
          </p:cNvPr>
          <p:cNvSpPr/>
          <p:nvPr/>
        </p:nvSpPr>
        <p:spPr>
          <a:xfrm>
            <a:off x="4526280" y="2788920"/>
            <a:ext cx="685800" cy="685800"/>
          </a:xfrm>
          <a:prstGeom prst="ellipse">
            <a:avLst/>
          </a:prstGeom>
          <a:solidFill>
            <a:srgbClr val="0E68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F0C41-B49A-D133-79E6-104DEE932A97}"/>
              </a:ext>
            </a:extLst>
          </p:cNvPr>
          <p:cNvSpPr txBox="1"/>
          <p:nvPr/>
        </p:nvSpPr>
        <p:spPr>
          <a:xfrm>
            <a:off x="4636008" y="2944368"/>
            <a:ext cx="5029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0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88F74-3D86-46E3-96C3-16DCB06FFE2B}"/>
              </a:ext>
            </a:extLst>
          </p:cNvPr>
          <p:cNvSpPr txBox="1"/>
          <p:nvPr/>
        </p:nvSpPr>
        <p:spPr>
          <a:xfrm>
            <a:off x="4526280" y="374904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400" b="1">
                <a:solidFill>
                  <a:srgbClr val="0E6836"/>
                </a:solidFill>
                <a:latin typeface="Arial" panose="020B0604020202020204" pitchFamily="34" charset="0"/>
              </a:rPr>
              <a:t>CLOUD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0D698-FE5C-08AE-2D73-20359346A70E}"/>
              </a:ext>
            </a:extLst>
          </p:cNvPr>
          <p:cNvSpPr txBox="1"/>
          <p:nvPr/>
        </p:nvSpPr>
        <p:spPr>
          <a:xfrm>
            <a:off x="4526280" y="4389120"/>
            <a:ext cx="324612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3200" b="1">
                <a:solidFill>
                  <a:srgbClr val="101411"/>
                </a:solidFill>
                <a:latin typeface="Arial" panose="020B0604020202020204" pitchFamily="34" charset="0"/>
              </a:rPr>
              <a:t>Delegate a task.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EC7EAB-805D-D4D6-1BAF-0EDDD4335D0F}"/>
              </a:ext>
            </a:extLst>
          </p:cNvPr>
          <p:cNvSpPr txBox="1"/>
          <p:nvPr/>
        </p:nvSpPr>
        <p:spPr>
          <a:xfrm>
            <a:off x="4526280" y="5532120"/>
            <a:ext cx="3200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Hand off scoped work.</a:t>
            </a:r>
          </a:p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Review the pull request.</a:t>
            </a:r>
            <a:endParaRPr lang="en-ZA">
              <a:solidFill>
                <a:srgbClr val="232925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CD5AE9-DC3F-91EB-FBF4-6013A7EBD4CA}"/>
              </a:ext>
            </a:extLst>
          </p:cNvPr>
          <p:cNvSpPr/>
          <p:nvPr/>
        </p:nvSpPr>
        <p:spPr>
          <a:xfrm>
            <a:off x="8412480" y="2788920"/>
            <a:ext cx="685800" cy="685800"/>
          </a:xfrm>
          <a:prstGeom prst="ellipse">
            <a:avLst/>
          </a:prstGeom>
          <a:solidFill>
            <a:srgbClr val="0E68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6CE7F-9ECB-7E9E-249C-B59378E39CD9}"/>
              </a:ext>
            </a:extLst>
          </p:cNvPr>
          <p:cNvSpPr txBox="1"/>
          <p:nvPr/>
        </p:nvSpPr>
        <p:spPr>
          <a:xfrm>
            <a:off x="8522208" y="2944368"/>
            <a:ext cx="5029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0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5378C7-5491-905E-5306-3B8D0F60B715}"/>
              </a:ext>
            </a:extLst>
          </p:cNvPr>
          <p:cNvSpPr txBox="1"/>
          <p:nvPr/>
        </p:nvSpPr>
        <p:spPr>
          <a:xfrm>
            <a:off x="8412480" y="374904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2400" b="1">
                <a:solidFill>
                  <a:srgbClr val="0E6836"/>
                </a:solidFill>
                <a:latin typeface="Arial" panose="020B0604020202020204" pitchFamily="34" charset="0"/>
              </a:rPr>
              <a:t>COPILOT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5D68B-C628-D284-E04A-02A23863BB44}"/>
              </a:ext>
            </a:extLst>
          </p:cNvPr>
          <p:cNvSpPr txBox="1"/>
          <p:nvPr/>
        </p:nvSpPr>
        <p:spPr>
          <a:xfrm>
            <a:off x="8412480" y="4389120"/>
            <a:ext cx="324612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ZA" sz="3200" b="1">
                <a:solidFill>
                  <a:srgbClr val="101411"/>
                </a:solidFill>
                <a:latin typeface="Arial" panose="020B0604020202020204" pitchFamily="34" charset="0"/>
              </a:rPr>
              <a:t>Bring it together.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F577D-07EE-A794-C3A8-CA86B9010AF3}"/>
              </a:ext>
            </a:extLst>
          </p:cNvPr>
          <p:cNvSpPr txBox="1"/>
          <p:nvPr/>
        </p:nvSpPr>
        <p:spPr>
          <a:xfrm>
            <a:off x="8412480" y="5532120"/>
            <a:ext cx="3200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Direct sessions. Review work.</a:t>
            </a:r>
          </a:p>
          <a:p>
            <a:r>
              <a:rPr lang="en-US">
                <a:solidFill>
                  <a:srgbClr val="232925"/>
                </a:solidFill>
                <a:latin typeface="Arial" panose="020B0604020202020204" pitchFamily="34" charset="0"/>
              </a:rPr>
              <a:t>Share live canvases.</a:t>
            </a:r>
            <a:endParaRPr lang="en-ZA">
              <a:solidFill>
                <a:srgbClr val="23292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7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 thruBlk="1"/>
      </p:transition>
    </mc:Choice>
    <mc:Fallback>
      <p:transition spd="med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1600">
                <a:solidFill>
                  <a:srgbClr val="E4EBE6"/>
                </a:solidFill>
                <a:latin typeface="Arial" panose="020B0604020202020204" pitchFamily="34" charset="0"/>
              </a:rPr>
              <a:t>YOU + YOUR AGENT. ONE SHARED SURFACE.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2337" y="796205"/>
            <a:ext cx="10972800" cy="1133856"/>
          </a:xfrm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" panose="020B0604020202020204" pitchFamily="34" charset="0"/>
                <a:cs typeface="Mona Sans Display"/>
              </a:rPr>
              <a:t>Work on the same thing.</a:t>
            </a:r>
          </a:p>
        </p:txBody>
      </p:sp>
      <p:pic>
        <p:nvPicPr>
          <p:cNvPr id="4" name="hero_4-windows-9ef493999a63a9a8">
            <a:hlinkClick r:id="" action="ppaction://media"/>
            <a:extLst>
              <a:ext uri="{FF2B5EF4-FFF2-40B4-BE49-F238E27FC236}">
                <a16:creationId xmlns:a16="http://schemas.microsoft.com/office/drawing/2014/main" id="{749D72C3-347A-36F6-68E1-D9B53F1D5F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5893" y="1747180"/>
            <a:ext cx="11257038" cy="5385139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8505094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Custom</PresentationFormat>
  <Paragraphs>38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Mona Sans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Leibowitz</dc:creator>
  <cp:lastModifiedBy>Matthew Leibowitz</cp:lastModifiedBy>
  <cp:revision>1</cp:revision>
  <dcterms:created xsi:type="dcterms:W3CDTF">2026-10-01T01:15:02Z</dcterms:created>
  <dcterms:modified xsi:type="dcterms:W3CDTF">2026-10-01T01:15:02Z</dcterms:modified>
</cp:coreProperties>
</file>