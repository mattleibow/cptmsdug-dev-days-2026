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7" r:id="rId19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You have already seen the workbench: Sessions act in a chosen workspace, My Work brings judgment points together, and Automations repeat bounded work. In this session, we focus on the surface that makes active work visible and steerable: Canvases. Keep this recap to three minutes and do not replay the keynote media.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925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440267" cy="6858000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4" name="Shape 4"/>
          <p:cNvSpPr/>
          <p:nvPr/>
        </p:nvSpPr>
        <p:spPr>
          <a:xfrm>
            <a:off x="9253333" y="0"/>
            <a:ext cx="2933333" cy="48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5" name="Shape 5"/>
          <p:cNvSpPr/>
          <p:nvPr/>
        </p:nvSpPr>
        <p:spPr>
          <a:xfrm>
            <a:off x="7600000" y="3146667"/>
            <a:ext cx="2666667" cy="813333"/>
          </a:xfrm>
          <a:prstGeom prst="rightArrow">
            <a:avLst/>
          </a:prstGeom>
          <a:noFill/>
        </p:spPr>
        <p:txBody>
          <a:bodyPr rtlCol="0" anchor="ctr"/>
          <a:lstStyle/>
          <a:p/>
        </p:txBody>
      </p:sp>
      <p:sp>
        <p:nvSpPr>
          <p:cNvPr id="6" name="Shape 6"/>
          <p:cNvSpPr/>
          <p:nvPr/>
        </p:nvSpPr>
        <p:spPr>
          <a:xfrm>
            <a:off x="806667" y="520000"/>
            <a:ext cx="226667" cy="226667"/>
          </a:xfrm>
          <a:prstGeom prst="ellipse">
            <a:avLst/>
          </a:prstGeom>
          <a:solidFill>
            <a:srgbClr val="8CF2A9"/>
          </a:solidFill>
        </p:spPr>
        <p:txBody>
          <a:bodyPr rtlCol="0" anchor="ctr"/>
          <a:lstStyle/>
          <a:p/>
        </p:txBody>
      </p:sp>
      <p:sp>
        <p:nvSpPr>
          <p:cNvPr id="7" name="Shape 7"/>
          <p:cNvSpPr/>
          <p:nvPr/>
        </p:nvSpPr>
        <p:spPr>
          <a:xfrm>
            <a:off x="813333" y="6013333"/>
            <a:ext cx="226667" cy="226667"/>
          </a:xfrm>
          <a:prstGeom prst="ellipse">
            <a:avLst/>
          </a:prstGeom>
          <a:solidFill>
            <a:srgbClr val="8CF2A9"/>
          </a:solidFill>
        </p:spPr>
        <p:txBody>
          <a:bodyPr rtlCol="0" anchor="ctr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13333" y="920000"/>
            <a:ext cx="8133333" cy="101333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4000" spc="200">
                <a:solidFill>
                  <a:srgbClr val="8CF2A9"/>
                </a:solidFill>
                <a:latin typeface="Segoe UI Semibold"/>
              </a:rPr>
              <a:t>GITHUB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3333" y="1866667"/>
            <a:ext cx="9866667" cy="193333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7200" spc="-100">
                <a:solidFill>
                  <a:srgbClr val="E4EBE6"/>
                </a:solidFill>
                <a:latin typeface="Segoe UI Semibold"/>
              </a:rPr>
              <a:t>COPILOT APP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2000" y="4120000"/>
            <a:ext cx="7500000" cy="6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100">
                <a:solidFill>
                  <a:srgbClr val="BFFFD1"/>
                </a:solidFill>
                <a:latin typeface="Segoe UI"/>
              </a:rPr>
              <a:t>The agent workbench for planning, building, reviewing, and shipping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6667" y="5946667"/>
            <a:ext cx="6933333" cy="37333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33" spc="100">
                <a:solidFill>
                  <a:srgbClr val="E4EBE6"/>
                </a:solidFill>
                <a:latin typeface="Segoe UI Semibold"/>
              </a:rPr>
              <a:t>Dev Days 2026  •  45 minutes  •  Live demos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2000" y="3550000"/>
            <a:ext cx="7600000" cy="48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900" spc="100">
                <a:solidFill>
                  <a:srgbClr val="0FBF3E"/>
                </a:solidFill>
                <a:latin typeface="Segoe UI Semibold"/>
              </a:rPr>
              <a:t>FROM CHAT TO SHARED 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925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33333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60000" y="733333"/>
            <a:ext cx="10133333" cy="122666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5733" spc="-100">
                <a:solidFill>
                  <a:srgbClr val="E4EBE6"/>
                </a:solidFill>
                <a:latin typeface="Segoe UI Semibold"/>
              </a:rPr>
              <a:t>THE TRANSCRIPT IS NOT</a:t>
            </a:r>
          </a:p>
          <a:p>
            <a:r>
              <a:rPr b="1" sz="5733" spc="-100">
                <a:solidFill>
                  <a:srgbClr val="E4EBE6"/>
                </a:solidFill>
                <a:latin typeface="Segoe UI Semibold"/>
              </a:rPr>
              <a:t>THE WORKSPACE.</a:t>
            </a:r>
          </a:p>
        </p:txBody>
      </p:sp>
      <p:sp>
        <p:nvSpPr>
          <p:cNvPr id="5" name="Shape 5"/>
          <p:cNvSpPr/>
          <p:nvPr/>
        </p:nvSpPr>
        <p:spPr>
          <a:xfrm>
            <a:off x="866667" y="2826667"/>
            <a:ext cx="4733333" cy="280000"/>
          </a:xfrm>
          <a:prstGeom prst="rect">
            <a:avLst/>
          </a:prstGeom>
          <a:solidFill>
            <a:srgbClr val="101411"/>
          </a:solidFill>
        </p:spPr>
        <p:txBody>
          <a:bodyPr rtlCol="0" anchor="ctr"/>
          <a:lstStyle/>
          <a:p/>
        </p:txBody>
      </p:sp>
      <p:sp>
        <p:nvSpPr>
          <p:cNvPr id="6" name="Shape 6"/>
          <p:cNvSpPr/>
          <p:nvPr/>
        </p:nvSpPr>
        <p:spPr>
          <a:xfrm>
            <a:off x="866667" y="3373333"/>
            <a:ext cx="3906667" cy="280000"/>
          </a:xfrm>
          <a:prstGeom prst="rect">
            <a:avLst/>
          </a:prstGeom>
          <a:solidFill>
            <a:srgbClr val="101411"/>
          </a:solidFill>
        </p:spPr>
        <p:txBody>
          <a:bodyPr rtlCol="0" anchor="ctr"/>
          <a:lstStyle/>
          <a:p/>
        </p:txBody>
      </p:sp>
      <p:sp>
        <p:nvSpPr>
          <p:cNvPr id="7" name="Shape 7"/>
          <p:cNvSpPr/>
          <p:nvPr/>
        </p:nvSpPr>
        <p:spPr>
          <a:xfrm>
            <a:off x="866667" y="3920000"/>
            <a:ext cx="4466667" cy="280000"/>
          </a:xfrm>
          <a:prstGeom prst="rect">
            <a:avLst/>
          </a:prstGeom>
          <a:solidFill>
            <a:srgbClr val="101411"/>
          </a:solidFill>
        </p:spPr>
        <p:txBody>
          <a:bodyPr rtlCol="0" anchor="ctr"/>
          <a:lstStyle/>
          <a:p/>
        </p:txBody>
      </p:sp>
      <p:sp>
        <p:nvSpPr>
          <p:cNvPr id="8" name="Shape 8"/>
          <p:cNvSpPr/>
          <p:nvPr/>
        </p:nvSpPr>
        <p:spPr>
          <a:xfrm>
            <a:off x="866667" y="4466667"/>
            <a:ext cx="3266667" cy="280000"/>
          </a:xfrm>
          <a:prstGeom prst="rect">
            <a:avLst/>
          </a:prstGeom>
          <a:solidFill>
            <a:srgbClr val="101411"/>
          </a:solidFill>
        </p:spPr>
        <p:txBody>
          <a:bodyPr rtlCol="0" anchor="ctr"/>
          <a:lstStyle/>
          <a:p/>
        </p:txBody>
      </p:sp>
      <p:sp>
        <p:nvSpPr>
          <p:cNvPr id="9" name="Shape 9"/>
          <p:cNvSpPr/>
          <p:nvPr/>
        </p:nvSpPr>
        <p:spPr>
          <a:xfrm>
            <a:off x="5866667" y="3466667"/>
            <a:ext cx="1400000" cy="693333"/>
          </a:xfrm>
          <a:prstGeom prst="rightArrow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10" name="Shape 10"/>
          <p:cNvSpPr/>
          <p:nvPr/>
        </p:nvSpPr>
        <p:spPr>
          <a:xfrm>
            <a:off x="7800000" y="2533333"/>
            <a:ext cx="3400000" cy="2733333"/>
          </a:xfrm>
          <a:prstGeom prst="rect">
            <a:avLst/>
          </a:prstGeom>
          <a:solidFill>
            <a:srgbClr val="101411"/>
          </a:solidFill>
        </p:spPr>
        <p:txBody>
          <a:bodyPr rtlCol="0" anchor="ctr"/>
          <a:lstStyle/>
          <a:p/>
        </p:txBody>
      </p:sp>
      <p:sp>
        <p:nvSpPr>
          <p:cNvPr id="11" name="Shape 11"/>
          <p:cNvSpPr/>
          <p:nvPr/>
        </p:nvSpPr>
        <p:spPr>
          <a:xfrm>
            <a:off x="7800000" y="2533333"/>
            <a:ext cx="3400000" cy="24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8133333" y="2986667"/>
            <a:ext cx="2640000" cy="6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400">
                <a:solidFill>
                  <a:srgbClr val="BFFFD1"/>
                </a:solidFill>
                <a:latin typeface="Segoe UI Semibold"/>
              </a:rPr>
              <a:t>WHAT IS TRUE NOW?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33333" y="3706667"/>
            <a:ext cx="2640000" cy="73333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400">
                <a:solidFill>
                  <a:srgbClr val="BFFFD1"/>
                </a:solidFill>
                <a:latin typeface="Segoe UI Semibold"/>
              </a:rPr>
              <a:t>WHAT NEEDS</a:t>
            </a:r>
          </a:p>
          <a:p>
            <a:r>
              <a:rPr b="1" sz="2400">
                <a:solidFill>
                  <a:srgbClr val="BFFFD1"/>
                </a:solidFill>
                <a:latin typeface="Segoe UI Semibold"/>
              </a:rPr>
              <a:t>ATTENTION?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33333" y="4533333"/>
            <a:ext cx="2640000" cy="6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400">
                <a:solidFill>
                  <a:srgbClr val="BFFFD1"/>
                </a:solidFill>
                <a:latin typeface="Segoe UI Semibold"/>
              </a:rPr>
              <a:t>WHAT CAN I CHANGE?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6667" y="5880000"/>
            <a:ext cx="10133333" cy="46666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533">
                <a:solidFill>
                  <a:srgbClr val="BFFFD1"/>
                </a:solidFill>
                <a:latin typeface="Segoe UI"/>
              </a:rPr>
              <a:t>Long-running agent work needs a surface you can inspect and steer.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EBE6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33333"/>
          </a:xfrm>
          <a:prstGeom prst="rect">
            <a:avLst/>
          </a:prstGeom>
          <a:solidFill>
            <a:srgbClr val="232925"/>
          </a:solidFill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60000" y="626667"/>
            <a:ext cx="10000000" cy="8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4133" spc="-50">
                <a:solidFill>
                  <a:srgbClr val="232925"/>
                </a:solidFill>
                <a:latin typeface="Segoe UI Semibold"/>
              </a:rPr>
              <a:t>ONE WORK SURFACE. TWO DELIBERATE PATHS.</a:t>
            </a:r>
          </a:p>
        </p:txBody>
      </p:sp>
      <p:sp>
        <p:nvSpPr>
          <p:cNvPr id="5" name="Shape 5"/>
          <p:cNvSpPr/>
          <p:nvPr/>
        </p:nvSpPr>
        <p:spPr>
          <a:xfrm>
            <a:off x="4213333" y="2360000"/>
            <a:ext cx="3733333" cy="2200000"/>
          </a:xfrm>
          <a:prstGeom prst="rect">
            <a:avLst/>
          </a:prstGeom>
          <a:solidFill>
            <a:srgbClr val="232925"/>
          </a:solidFill>
        </p:spPr>
        <p:txBody>
          <a:bodyPr rtlCol="0" anchor="ctr"/>
          <a:lstStyle/>
          <a:p/>
        </p:txBody>
      </p:sp>
      <p:sp>
        <p:nvSpPr>
          <p:cNvPr id="6" name="Shape 6"/>
          <p:cNvSpPr/>
          <p:nvPr/>
        </p:nvSpPr>
        <p:spPr>
          <a:xfrm>
            <a:off x="4213333" y="2360000"/>
            <a:ext cx="3733333" cy="200000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4680000" y="2946667"/>
            <a:ext cx="2800000" cy="54666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4400" spc="100">
                <a:solidFill>
                  <a:srgbClr val="E4EBE6"/>
                </a:solidFill>
                <a:latin typeface="Segoe UI Semibold"/>
              </a:rPr>
              <a:t>CANVAS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20000" y="3666667"/>
            <a:ext cx="3133333" cy="48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267">
                <a:solidFill>
                  <a:srgbClr val="BFFFD1"/>
                </a:solidFill>
                <a:latin typeface="Segoe UI"/>
              </a:rPr>
              <a:t>extension-owned state</a:t>
            </a:r>
          </a:p>
        </p:txBody>
      </p:sp>
      <p:sp>
        <p:nvSpPr>
          <p:cNvPr id="9" name="Shape 9"/>
          <p:cNvSpPr/>
          <p:nvPr/>
        </p:nvSpPr>
        <p:spPr>
          <a:xfrm>
            <a:off x="1466667" y="3053333"/>
            <a:ext cx="2293333" cy="626667"/>
          </a:xfrm>
          <a:prstGeom prst="rightArrow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10" name="Shape 10"/>
          <p:cNvSpPr/>
          <p:nvPr/>
        </p:nvSpPr>
        <p:spPr>
          <a:xfrm>
            <a:off x="8413333" y="3053333"/>
            <a:ext cx="2293333" cy="626667"/>
          </a:xfrm>
          <a:prstGeom prst="rightArrow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800000" y="2333333"/>
            <a:ext cx="2133333" cy="57333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333">
                <a:solidFill>
                  <a:srgbClr val="232925"/>
                </a:solidFill>
                <a:latin typeface="Segoe UI Semibold"/>
              </a:rPr>
              <a:t>PERSON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0000" y="3880000"/>
            <a:ext cx="2533333" cy="64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267">
                <a:solidFill>
                  <a:srgbClr val="0E6836"/>
                </a:solidFill>
                <a:latin typeface="Segoe UI"/>
              </a:rPr>
              <a:t>UI controls</a:t>
            </a:r>
          </a:p>
          <a:p>
            <a:r>
              <a:rPr sz="2267">
                <a:solidFill>
                  <a:srgbClr val="0E6836"/>
                </a:solidFill>
                <a:latin typeface="Segoe UI"/>
              </a:rPr>
              <a:t>click • edit • select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53333" y="2333333"/>
            <a:ext cx="2266667" cy="57333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333">
                <a:solidFill>
                  <a:srgbClr val="232925"/>
                </a:solidFill>
                <a:latin typeface="Segoe UI Semibold"/>
              </a:rPr>
              <a:t>AGENT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00000" y="3880000"/>
            <a:ext cx="2466667" cy="64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267">
                <a:solidFill>
                  <a:srgbClr val="0E6836"/>
                </a:solidFill>
                <a:latin typeface="Segoe UI"/>
              </a:rPr>
              <a:t>named actions</a:t>
            </a:r>
          </a:p>
          <a:p>
            <a:r>
              <a:rPr sz="2267">
                <a:solidFill>
                  <a:srgbClr val="0E6836"/>
                </a:solidFill>
                <a:latin typeface="Segoe UI"/>
              </a:rPr>
              <a:t>read • update • verify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0000" y="5800000"/>
            <a:ext cx="10266667" cy="53333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200">
                <a:solidFill>
                  <a:srgbClr val="0E6836"/>
                </a:solidFill>
                <a:latin typeface="Segoe UI Semibold"/>
              </a:rPr>
              <a:t>The interface is a collaboration contract, not decoration.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925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3600000" cy="6858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60000" y="746667"/>
            <a:ext cx="9333333" cy="153333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4933" spc="-100">
                <a:solidFill>
                  <a:srgbClr val="E4EBE6"/>
                </a:solidFill>
                <a:latin typeface="Segoe UI Semibold"/>
              </a:rPr>
              <a:t>HIDDEN WORK</a:t>
            </a:r>
          </a:p>
          <a:p>
            <a:r>
              <a:rPr b="1" sz="4933" spc="-100">
                <a:solidFill>
                  <a:srgbClr val="E4EBE6"/>
                </a:solidFill>
                <a:latin typeface="Segoe UI Semibold"/>
              </a:rPr>
              <a:t>→ A GLANCEABLE TIMELINE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3333" y="2640000"/>
            <a:ext cx="4000000" cy="46666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000" spc="100">
                <a:solidFill>
                  <a:srgbClr val="E4EBE6"/>
                </a:solidFill>
                <a:latin typeface="Segoe UI Semibold"/>
              </a:rPr>
              <a:t>CREDIT TIMELINE  /  LIVE DEMO</a:t>
            </a:r>
          </a:p>
        </p:txBody>
      </p:sp>
      <p:sp>
        <p:nvSpPr>
          <p:cNvPr id="6" name="Shape 6"/>
          <p:cNvSpPr/>
          <p:nvPr/>
        </p:nvSpPr>
        <p:spPr>
          <a:xfrm>
            <a:off x="5333333" y="1213333"/>
            <a:ext cx="5600000" cy="4000000"/>
          </a:xfrm>
          <a:prstGeom prst="rect">
            <a:avLst/>
          </a:prstGeom>
          <a:solidFill>
            <a:srgbClr val="101411"/>
          </a:solidFill>
        </p:spPr>
        <p:txBody>
          <a:bodyPr rtlCol="0" anchor="ctr"/>
          <a:lstStyle/>
          <a:p/>
        </p:txBody>
      </p:sp>
      <p:sp>
        <p:nvSpPr>
          <p:cNvPr id="7" name="Shape 7"/>
          <p:cNvSpPr/>
          <p:nvPr/>
        </p:nvSpPr>
        <p:spPr>
          <a:xfrm>
            <a:off x="5733333" y="1773333"/>
            <a:ext cx="4000000" cy="200000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8" name="Shape 8"/>
          <p:cNvSpPr/>
          <p:nvPr/>
        </p:nvSpPr>
        <p:spPr>
          <a:xfrm>
            <a:off x="5933333" y="2413333"/>
            <a:ext cx="1813333" cy="400000"/>
          </a:xfrm>
          <a:prstGeom prst="rect">
            <a:avLst/>
          </a:prstGeom>
          <a:solidFill>
            <a:srgbClr val="BFFFD1"/>
          </a:solidFill>
        </p:spPr>
        <p:txBody>
          <a:bodyPr rtlCol="0" anchor="ctr"/>
          <a:lstStyle/>
          <a:p/>
        </p:txBody>
      </p:sp>
      <p:sp>
        <p:nvSpPr>
          <p:cNvPr id="9" name="Shape 9"/>
          <p:cNvSpPr/>
          <p:nvPr/>
        </p:nvSpPr>
        <p:spPr>
          <a:xfrm>
            <a:off x="5933333" y="3160000"/>
            <a:ext cx="3426667" cy="400000"/>
          </a:xfrm>
          <a:prstGeom prst="rect">
            <a:avLst/>
          </a:prstGeom>
          <a:solidFill>
            <a:srgbClr val="8CF2A9"/>
          </a:solidFill>
        </p:spPr>
        <p:txBody>
          <a:bodyPr rtlCol="0" anchor="ctr"/>
          <a:lstStyle/>
          <a:p/>
        </p:txBody>
      </p:sp>
      <p:sp>
        <p:nvSpPr>
          <p:cNvPr id="10" name="Shape 10"/>
          <p:cNvSpPr/>
          <p:nvPr/>
        </p:nvSpPr>
        <p:spPr>
          <a:xfrm>
            <a:off x="5933333" y="3906667"/>
            <a:ext cx="2640000" cy="400000"/>
          </a:xfrm>
          <a:prstGeom prst="rect">
            <a:avLst/>
          </a:prstGeom>
          <a:solidFill>
            <a:srgbClr val="5FED83"/>
          </a:solidFill>
        </p:spPr>
        <p:txBody>
          <a:bodyPr rtlCol="0" anchor="ctr"/>
          <a:lstStyle/>
          <a:p/>
        </p:txBody>
      </p:sp>
      <p:sp>
        <p:nvSpPr>
          <p:cNvPr id="11" name="Shape 11"/>
          <p:cNvSpPr/>
          <p:nvPr/>
        </p:nvSpPr>
        <p:spPr>
          <a:xfrm>
            <a:off x="5933333" y="4653333"/>
            <a:ext cx="4133333" cy="400000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12" name="Shape 12"/>
          <p:cNvSpPr/>
          <p:nvPr/>
        </p:nvSpPr>
        <p:spPr>
          <a:xfrm>
            <a:off x="7866667" y="2300000"/>
            <a:ext cx="626667" cy="626667"/>
          </a:xfrm>
          <a:prstGeom prst="ellipse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13" name="Shape 13"/>
          <p:cNvSpPr/>
          <p:nvPr/>
        </p:nvSpPr>
        <p:spPr>
          <a:xfrm>
            <a:off x="9226667" y="3806667"/>
            <a:ext cx="626667" cy="626667"/>
          </a:xfrm>
          <a:prstGeom prst="ellipse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773333" y="3893333"/>
            <a:ext cx="3640000" cy="98666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667">
                <a:solidFill>
                  <a:srgbClr val="E4EBE6"/>
                </a:solidFill>
                <a:latin typeface="Segoe UI Semibold"/>
              </a:rPr>
              <a:t>SEE SESSIONS.</a:t>
            </a:r>
          </a:p>
          <a:p>
            <a:r>
              <a:rPr b="1" sz="2667">
                <a:solidFill>
                  <a:srgbClr val="E4EBE6"/>
                </a:solidFill>
                <a:latin typeface="Segoe UI Semibold"/>
              </a:rPr>
              <a:t>SEE AGENT ACTIVITY.</a:t>
            </a:r>
          </a:p>
          <a:p>
            <a:r>
              <a:rPr b="1" sz="2667">
                <a:solidFill>
                  <a:srgbClr val="E4EBE6"/>
                </a:solidFill>
                <a:latin typeface="Segoe UI Semibold"/>
              </a:rPr>
              <a:t>ASK FROM THE SAME DATA.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3333" y="5826667"/>
            <a:ext cx="9200000" cy="37333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867">
                <a:solidFill>
                  <a:srgbClr val="BFFFD1"/>
                </a:solidFill>
                <a:latin typeface="Segoe UI"/>
              </a:rPr>
              <a:t>Recorded AIU usage — not a bill, not a premium-request counter.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EBE6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33333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60000" y="693333"/>
            <a:ext cx="6533333" cy="173333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5200" spc="-100">
                <a:solidFill>
                  <a:srgbClr val="232925"/>
                </a:solidFill>
                <a:latin typeface="Segoe UI Semibold"/>
              </a:rPr>
              <a:t>WATCH THE AGENT</a:t>
            </a:r>
          </a:p>
          <a:p>
            <a:r>
              <a:rPr b="1" sz="5200" spc="-100">
                <a:solidFill>
                  <a:srgbClr val="232925"/>
                </a:solidFill>
                <a:latin typeface="Segoe UI Semibold"/>
              </a:rPr>
              <a:t>MOVE THE DEVICE.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3333" y="2733333"/>
            <a:ext cx="4866667" cy="6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000" spc="100">
                <a:solidFill>
                  <a:srgbClr val="0E6836"/>
                </a:solidFill>
                <a:latin typeface="Segoe UI Semibold"/>
              </a:rPr>
              <a:t>MOBILE CANVAS  /  LIVE DEMO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3333" y="3786667"/>
            <a:ext cx="4866667" cy="117333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067">
                <a:solidFill>
                  <a:srgbClr val="0E6836"/>
                </a:solidFill>
                <a:latin typeface="Segoe UI Semibold"/>
              </a:rPr>
              <a:t>A shared local device surface:</a:t>
            </a:r>
          </a:p>
          <a:p>
            <a:r>
              <a:rPr b="1" sz="3067">
                <a:solidFill>
                  <a:srgbClr val="0E6836"/>
                </a:solidFill>
                <a:latin typeface="Segoe UI Semibold"/>
              </a:rPr>
              <a:t>visible cursor, real input,</a:t>
            </a:r>
          </a:p>
          <a:p>
            <a:r>
              <a:rPr b="1" sz="3067">
                <a:solidFill>
                  <a:srgbClr val="0E6836"/>
                </a:solidFill>
                <a:latin typeface="Segoe UI Semibold"/>
              </a:rPr>
              <a:t>and human takeover.</a:t>
            </a:r>
          </a:p>
        </p:txBody>
      </p:sp>
      <p:sp>
        <p:nvSpPr>
          <p:cNvPr id="7" name="Shape 7"/>
          <p:cNvSpPr/>
          <p:nvPr/>
        </p:nvSpPr>
        <p:spPr>
          <a:xfrm>
            <a:off x="7946667" y="760000"/>
            <a:ext cx="2933333" cy="5306667"/>
          </a:xfrm>
          <a:prstGeom prst="roundRect">
            <a:avLst/>
          </a:prstGeom>
          <a:solidFill>
            <a:srgbClr val="232925"/>
          </a:solidFill>
        </p:spPr>
        <p:txBody>
          <a:bodyPr rtlCol="0" anchor="ctr"/>
          <a:lstStyle/>
          <a:p/>
        </p:txBody>
      </p:sp>
      <p:sp>
        <p:nvSpPr>
          <p:cNvPr id="8" name="Shape 8"/>
          <p:cNvSpPr/>
          <p:nvPr/>
        </p:nvSpPr>
        <p:spPr>
          <a:xfrm>
            <a:off x="8186667" y="1253333"/>
            <a:ext cx="2453333" cy="4040000"/>
          </a:xfrm>
          <a:prstGeom prst="rect">
            <a:avLst/>
          </a:prstGeom>
          <a:solidFill>
            <a:srgbClr val="101411"/>
          </a:solidFill>
        </p:spPr>
        <p:txBody>
          <a:bodyPr rtlCol="0" anchor="ctr"/>
          <a:lstStyle/>
          <a:p/>
        </p:txBody>
      </p:sp>
      <p:sp>
        <p:nvSpPr>
          <p:cNvPr id="9" name="Shape 9"/>
          <p:cNvSpPr/>
          <p:nvPr/>
        </p:nvSpPr>
        <p:spPr>
          <a:xfrm>
            <a:off x="8186667" y="1760000"/>
            <a:ext cx="2453333" cy="104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10" name="Shape 10"/>
          <p:cNvSpPr/>
          <p:nvPr/>
        </p:nvSpPr>
        <p:spPr>
          <a:xfrm>
            <a:off x="8186667" y="2946667"/>
            <a:ext cx="2453333" cy="920000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11" name="Shape 11"/>
          <p:cNvSpPr/>
          <p:nvPr/>
        </p:nvSpPr>
        <p:spPr>
          <a:xfrm>
            <a:off x="8186667" y="4026667"/>
            <a:ext cx="2453333" cy="1226667"/>
          </a:xfrm>
          <a:prstGeom prst="rect">
            <a:avLst/>
          </a:prstGeom>
          <a:solidFill>
            <a:srgbClr val="8CF2A9"/>
          </a:solidFill>
        </p:spPr>
        <p:txBody>
          <a:bodyPr rtlCol="0" anchor="ctr"/>
          <a:lstStyle/>
          <a:p/>
        </p:txBody>
      </p:sp>
      <p:sp>
        <p:nvSpPr>
          <p:cNvPr id="12" name="Shape 12"/>
          <p:cNvSpPr/>
          <p:nvPr/>
        </p:nvSpPr>
        <p:spPr>
          <a:xfrm>
            <a:off x="6413333" y="3613333"/>
            <a:ext cx="2000000" cy="720000"/>
          </a:xfrm>
          <a:prstGeom prst="rightArrow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773333" y="5813333"/>
            <a:ext cx="4933333" cy="38666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000">
                <a:solidFill>
                  <a:srgbClr val="0E6836"/>
                </a:solidFill>
                <a:latin typeface="Segoe UI"/>
              </a:rPr>
              <a:t>Mobile Canvas does not require MAUI DevFlow.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925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33333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60000" y="680000"/>
            <a:ext cx="10266667" cy="9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5200" spc="-100">
                <a:solidFill>
                  <a:srgbClr val="E4EBE6"/>
                </a:solidFill>
                <a:latin typeface="Segoe UI Semibold"/>
              </a:rPr>
              <a:t>THREE CANVASES.</a:t>
            </a:r>
          </a:p>
          <a:p>
            <a:r>
              <a:rPr b="1" sz="5200" spc="-100">
                <a:solidFill>
                  <a:srgbClr val="E4EBE6"/>
                </a:solidFill>
                <a:latin typeface="Segoe UI Semibold"/>
              </a:rPr>
              <a:t>THREE SOURCES OF TRUTH.</a:t>
            </a:r>
          </a:p>
        </p:txBody>
      </p:sp>
      <p:sp>
        <p:nvSpPr>
          <p:cNvPr id="5" name="Shape 5"/>
          <p:cNvSpPr/>
          <p:nvPr/>
        </p:nvSpPr>
        <p:spPr>
          <a:xfrm>
            <a:off x="826667" y="2533333"/>
            <a:ext cx="9466667" cy="920000"/>
          </a:xfrm>
          <a:prstGeom prst="rect">
            <a:avLst/>
          </a:prstGeom>
          <a:solidFill>
            <a:srgbClr val="101411"/>
          </a:solidFill>
        </p:spPr>
        <p:txBody>
          <a:bodyPr rtlCol="0" anchor="ctr"/>
          <a:lstStyle/>
          <a:p/>
        </p:txBody>
      </p:sp>
      <p:sp>
        <p:nvSpPr>
          <p:cNvPr id="6" name="Shape 6"/>
          <p:cNvSpPr/>
          <p:nvPr/>
        </p:nvSpPr>
        <p:spPr>
          <a:xfrm>
            <a:off x="826667" y="3680000"/>
            <a:ext cx="8133333" cy="920000"/>
          </a:xfrm>
          <a:prstGeom prst="rect">
            <a:avLst/>
          </a:prstGeom>
          <a:solidFill>
            <a:srgbClr val="8CF2A9"/>
          </a:solidFill>
        </p:spPr>
        <p:txBody>
          <a:bodyPr rtlCol="0" anchor="ctr"/>
          <a:lstStyle/>
          <a:p/>
        </p:txBody>
      </p:sp>
      <p:sp>
        <p:nvSpPr>
          <p:cNvPr id="7" name="Shape 7"/>
          <p:cNvSpPr/>
          <p:nvPr/>
        </p:nvSpPr>
        <p:spPr>
          <a:xfrm>
            <a:off x="826667" y="4826667"/>
            <a:ext cx="10000000" cy="92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1106667" y="2733333"/>
            <a:ext cx="8666667" cy="37333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400">
                <a:solidFill>
                  <a:srgbClr val="E4EBE6"/>
                </a:solidFill>
                <a:latin typeface="Segoe UI"/>
              </a:rPr>
              <a:t>CREDIT TIMELINE    local session store     → inspect hidden work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6667" y="3880000"/>
            <a:ext cx="7333333" cy="37333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400">
                <a:solidFill>
                  <a:srgbClr val="232925"/>
                </a:solidFill>
                <a:latin typeface="Segoe UI"/>
              </a:rPr>
              <a:t>MOBILE CANVAS    selected live device     → share control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6667" y="5026667"/>
            <a:ext cx="9200000" cy="37333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400">
                <a:solidFill>
                  <a:srgbClr val="E4EBE6"/>
                </a:solidFill>
                <a:latin typeface="Segoe UI"/>
              </a:rPr>
              <a:t>VISUAL MAP    extension-owned map     → evolve a shared artifact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6667" y="6080000"/>
            <a:ext cx="10133333" cy="34666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133">
                <a:solidFill>
                  <a:srgbClr val="BFFFD1"/>
                </a:solidFill>
                <a:latin typeface="Segoe UI"/>
              </a:rPr>
              <a:t>Same collaboration shape. Different ownership, persistence, and safety boundaries.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EBE6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33333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60000" y="640000"/>
            <a:ext cx="9200000" cy="86666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5067" spc="-100">
                <a:solidFill>
                  <a:srgbClr val="232925"/>
                </a:solidFill>
                <a:latin typeface="Segoe UI Semibold"/>
              </a:rPr>
              <a:t>PROJECT-SCOPED.</a:t>
            </a:r>
          </a:p>
          <a:p>
            <a:r>
              <a:rPr b="1" sz="5067" spc="-100">
                <a:solidFill>
                  <a:srgbClr val="232925"/>
                </a:solidFill>
                <a:latin typeface="Segoe UI Semibold"/>
              </a:rPr>
              <a:t>REPRODUCIBLE.</a:t>
            </a:r>
          </a:p>
        </p:txBody>
      </p:sp>
      <p:sp>
        <p:nvSpPr>
          <p:cNvPr id="5" name="Shape 5"/>
          <p:cNvSpPr/>
          <p:nvPr/>
        </p:nvSpPr>
        <p:spPr>
          <a:xfrm>
            <a:off x="760000" y="2520000"/>
            <a:ext cx="4133333" cy="2960000"/>
          </a:xfrm>
          <a:prstGeom prst="rect">
            <a:avLst/>
          </a:prstGeom>
          <a:solidFill>
            <a:srgbClr val="101411"/>
          </a:solidFill>
        </p:spPr>
        <p:txBody>
          <a:bodyPr rtlCol="0"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1053333" y="2866667"/>
            <a:ext cx="3533333" cy="20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533">
                <a:solidFill>
                  <a:srgbClr val="E4EBE6"/>
                </a:solidFill>
                <a:latin typeface="Segoe UI"/>
              </a:rPr>
              <a:t>your-repository/</a:t>
            </a:r>
          </a:p>
          <a:p>
            <a:r>
              <a:rPr sz="2400">
                <a:solidFill>
                  <a:srgbClr val="E4EBE6"/>
                </a:solidFill>
                <a:latin typeface="Segoe UI"/>
              </a:rPr>
              <a:t>└─ .github/</a:t>
            </a:r>
          </a:p>
          <a:p>
            <a:r>
              <a:rPr sz="2400">
                <a:solidFill>
                  <a:srgbClr val="E4EBE6"/>
                </a:solidFill>
                <a:latin typeface="Segoe UI"/>
              </a:rPr>
              <a:t>   └─ extensions/</a:t>
            </a:r>
          </a:p>
          <a:p>
            <a:r>
              <a:rPr sz="2400">
                <a:solidFill>
                  <a:srgbClr val="E4EBE6"/>
                </a:solidFill>
                <a:latin typeface="Segoe UI"/>
              </a:rPr>
              <a:t>      └─ visual-map/</a:t>
            </a:r>
          </a:p>
          <a:p>
            <a:r>
              <a:rPr sz="2400">
                <a:solidFill>
                  <a:srgbClr val="0FBF3E"/>
                </a:solidFill>
                <a:latin typeface="Segoe UI"/>
              </a:rPr>
              <a:t>         └─ extension.mjs</a:t>
            </a:r>
          </a:p>
        </p:txBody>
      </p:sp>
      <p:sp>
        <p:nvSpPr>
          <p:cNvPr id="7" name="Shape 7"/>
          <p:cNvSpPr/>
          <p:nvPr/>
        </p:nvSpPr>
        <p:spPr>
          <a:xfrm>
            <a:off x="5306667" y="3586667"/>
            <a:ext cx="1466667" cy="666667"/>
          </a:xfrm>
          <a:prstGeom prst="rightArrow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8" name="Shape 8"/>
          <p:cNvSpPr/>
          <p:nvPr/>
        </p:nvSpPr>
        <p:spPr>
          <a:xfrm>
            <a:off x="7266667" y="2440000"/>
            <a:ext cx="3933333" cy="1333333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7653333" y="2773333"/>
            <a:ext cx="3133333" cy="58666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067">
                <a:solidFill>
                  <a:srgbClr val="E4EBE6"/>
                </a:solidFill>
                <a:latin typeface="Segoe UI Semibold"/>
              </a:rPr>
              <a:t>joinSession</a:t>
            </a:r>
          </a:p>
          <a:p>
            <a:r>
              <a:rPr b="1" sz="2533">
                <a:solidFill>
                  <a:srgbClr val="BFFFD1"/>
                </a:solidFill>
                <a:latin typeface="Segoe UI Semibold"/>
              </a:rPr>
              <a:t>registers the Canvas</a:t>
            </a:r>
          </a:p>
        </p:txBody>
      </p:sp>
      <p:sp>
        <p:nvSpPr>
          <p:cNvPr id="10" name="Shape 10"/>
          <p:cNvSpPr/>
          <p:nvPr/>
        </p:nvSpPr>
        <p:spPr>
          <a:xfrm>
            <a:off x="7266667" y="4173333"/>
            <a:ext cx="3933333" cy="1266667"/>
          </a:xfrm>
          <a:prstGeom prst="rect">
            <a:avLst/>
          </a:prstGeom>
          <a:solidFill>
            <a:srgbClr val="101411"/>
          </a:solidFill>
        </p:spPr>
        <p:txBody>
          <a:bodyPr rtlCol="0" anchor="ctr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7653333" y="4453333"/>
            <a:ext cx="3133333" cy="73333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067">
                <a:solidFill>
                  <a:srgbClr val="E4EBE6"/>
                </a:solidFill>
                <a:latin typeface="Segoe UI Semibold"/>
              </a:rPr>
              <a:t>createCanvas</a:t>
            </a:r>
          </a:p>
          <a:p>
            <a:r>
              <a:rPr sz="2267">
                <a:solidFill>
                  <a:srgbClr val="BFFFD1"/>
                </a:solidFill>
                <a:latin typeface="Segoe UI"/>
              </a:rPr>
              <a:t>state • actions • renderer</a:t>
            </a:r>
          </a:p>
          <a:p>
            <a:r>
              <a:rPr sz="2267">
                <a:solidFill>
                  <a:srgbClr val="BFFFD1"/>
                </a:solidFill>
                <a:latin typeface="Segoe UI"/>
              </a:rPr>
              <a:t>open() • onClose()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0000" y="5893333"/>
            <a:ext cx="10133333" cy="4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000">
                <a:solidFill>
                  <a:srgbClr val="0E6836"/>
                </a:solidFill>
                <a:latin typeface="Segoe UI"/>
              </a:rPr>
              <a:t>Extensions execute local code. Bind the renderer to loopback; validate every 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925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33333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5653333"/>
            <a:ext cx="12192000" cy="1204667"/>
          </a:xfrm>
          <a:prstGeom prst="rect">
            <a:avLst/>
          </a:prstGeom>
          <a:solidFill>
            <a:srgbClr val="101411"/>
          </a:solidFill>
        </p:spPr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760000" y="666667"/>
            <a:ext cx="10133333" cy="93333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5467" spc="-100">
                <a:solidFill>
                  <a:srgbClr val="E4EBE6"/>
                </a:solidFill>
                <a:latin typeface="Segoe UI Semibold"/>
              </a:rPr>
              <a:t>BUILD THE SMALLEST</a:t>
            </a:r>
          </a:p>
          <a:p>
            <a:r>
              <a:rPr b="1" sz="5467" spc="-100">
                <a:solidFill>
                  <a:srgbClr val="E4EBE6"/>
                </a:solidFill>
                <a:latin typeface="Segoe UI Semibold"/>
              </a:rPr>
              <a:t>TRUE THING.</a:t>
            </a:r>
          </a:p>
        </p:txBody>
      </p:sp>
      <p:sp>
        <p:nvSpPr>
          <p:cNvPr id="6" name="Shape 6"/>
          <p:cNvSpPr/>
          <p:nvPr/>
        </p:nvSpPr>
        <p:spPr>
          <a:xfrm>
            <a:off x="760000" y="2306667"/>
            <a:ext cx="7733333" cy="1813333"/>
          </a:xfrm>
          <a:prstGeom prst="rect">
            <a:avLst/>
          </a:prstGeom>
          <a:solidFill>
            <a:srgbClr val="101411"/>
          </a:solidFill>
        </p:spPr>
        <p:txBody>
          <a:bodyPr rtlCol="0" anchor="ctr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1133333" y="2706667"/>
            <a:ext cx="6933333" cy="93333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400">
                <a:solidFill>
                  <a:srgbClr val="0FBF3E"/>
                </a:solidFill>
                <a:latin typeface="Segoe UI"/>
              </a:rPr>
              <a:t>extensions_manage({</a:t>
            </a:r>
          </a:p>
          <a:p>
            <a:r>
              <a:rPr sz="2400">
                <a:solidFill>
                  <a:srgbClr val="E4EBE6"/>
                </a:solidFill>
                <a:latin typeface="Segoe UI"/>
              </a:rPr>
              <a:t>  operation: "scaffold",</a:t>
            </a:r>
          </a:p>
          <a:p>
            <a:r>
              <a:rPr sz="2400">
                <a:solidFill>
                  <a:srgbClr val="E4EBE6"/>
                </a:solidFill>
                <a:latin typeface="Segoe UI"/>
              </a:rPr>
              <a:t>  name: "visual-map-live",</a:t>
            </a:r>
          </a:p>
          <a:p>
            <a:r>
              <a:rPr sz="2400">
                <a:solidFill>
                  <a:srgbClr val="E4EBE6"/>
                </a:solidFill>
                <a:latin typeface="Segoe UI"/>
              </a:rPr>
              <a:t>  location: "project",</a:t>
            </a:r>
          </a:p>
          <a:p>
            <a:r>
              <a:rPr sz="2400">
                <a:solidFill>
                  <a:srgbClr val="E4EBE6"/>
                </a:solidFill>
                <a:latin typeface="Segoe UI"/>
              </a:rPr>
              <a:t>  kind: "canvas"</a:t>
            </a:r>
          </a:p>
          <a:p>
            <a:r>
              <a:rPr sz="2400">
                <a:solidFill>
                  <a:srgbClr val="E4EBE6"/>
                </a:solidFill>
                <a:latin typeface="Segoe UI"/>
              </a:rPr>
              <a:t>})</a:t>
            </a:r>
          </a:p>
        </p:txBody>
      </p:sp>
      <p:sp>
        <p:nvSpPr>
          <p:cNvPr id="8" name="Shape 8"/>
          <p:cNvSpPr/>
          <p:nvPr/>
        </p:nvSpPr>
        <p:spPr>
          <a:xfrm>
            <a:off x="9000000" y="2266667"/>
            <a:ext cx="2266667" cy="893333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9306667" y="2533333"/>
            <a:ext cx="1666667" cy="33333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867">
                <a:solidFill>
                  <a:srgbClr val="232925"/>
                </a:solidFill>
                <a:latin typeface="Segoe UI Semibold"/>
              </a:rPr>
              <a:t>1  SCAFFOLD</a:t>
            </a:r>
          </a:p>
        </p:txBody>
      </p:sp>
      <p:sp>
        <p:nvSpPr>
          <p:cNvPr id="10" name="Shape 10"/>
          <p:cNvSpPr/>
          <p:nvPr/>
        </p:nvSpPr>
        <p:spPr>
          <a:xfrm>
            <a:off x="9000000" y="3320000"/>
            <a:ext cx="2266667" cy="893333"/>
          </a:xfrm>
          <a:prstGeom prst="rect">
            <a:avLst/>
          </a:prstGeom>
          <a:solidFill>
            <a:srgbClr val="8CF2A9"/>
          </a:solidFill>
        </p:spPr>
        <p:txBody>
          <a:bodyPr rtlCol="0" anchor="ctr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9306667" y="3586667"/>
            <a:ext cx="1666667" cy="33333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33">
                <a:solidFill>
                  <a:srgbClr val="232925"/>
                </a:solidFill>
                <a:latin typeface="Segoe UI Semibold"/>
              </a:rPr>
              <a:t>2  SHARE STATE</a:t>
            </a:r>
          </a:p>
        </p:txBody>
      </p:sp>
      <p:sp>
        <p:nvSpPr>
          <p:cNvPr id="12" name="Shape 12"/>
          <p:cNvSpPr/>
          <p:nvPr/>
        </p:nvSpPr>
        <p:spPr>
          <a:xfrm>
            <a:off x="9000000" y="4373333"/>
            <a:ext cx="2266667" cy="893333"/>
          </a:xfrm>
          <a:prstGeom prst="rect">
            <a:avLst/>
          </a:prstGeom>
          <a:solidFill>
            <a:srgbClr val="E4EBE6"/>
          </a:solidFill>
        </p:spPr>
        <p:txBody>
          <a:bodyPr rtlCol="0" anchor="ctr"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9306667" y="4640000"/>
            <a:ext cx="1666667" cy="33333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600">
                <a:solidFill>
                  <a:srgbClr val="0E6836"/>
                </a:solidFill>
                <a:latin typeface="Segoe UI Semibold"/>
              </a:rPr>
              <a:t>3  PROVE BOTH PATHS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0000" y="5946667"/>
            <a:ext cx="10133333" cy="48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133">
                <a:solidFill>
                  <a:srgbClr val="E4EBE6"/>
                </a:solidFill>
                <a:latin typeface="Segoe UI"/>
              </a:rPr>
              <a:t>Type the smallest meaningful loop. Reveal the hardened implementation after it works.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EBE6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33333"/>
          </a:xfrm>
          <a:prstGeom prst="rect">
            <a:avLst/>
          </a:prstGeom>
          <a:solidFill>
            <a:srgbClr val="232925"/>
          </a:solidFill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60000" y="666667"/>
            <a:ext cx="9600000" cy="74666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5600" spc="-100">
                <a:solidFill>
                  <a:srgbClr val="232925"/>
                </a:solidFill>
                <a:latin typeface="Segoe UI Semibold"/>
              </a:rPr>
              <a:t>THE PROOF IS THE LOOP.</a:t>
            </a:r>
          </a:p>
        </p:txBody>
      </p:sp>
      <p:sp>
        <p:nvSpPr>
          <p:cNvPr id="5" name="Shape 5"/>
          <p:cNvSpPr/>
          <p:nvPr/>
        </p:nvSpPr>
        <p:spPr>
          <a:xfrm>
            <a:off x="760000" y="2320000"/>
            <a:ext cx="2333333" cy="946667"/>
          </a:xfrm>
          <a:prstGeom prst="rightArrow">
            <a:avLst/>
          </a:prstGeom>
          <a:solidFill>
            <a:srgbClr val="232925"/>
          </a:solidFill>
        </p:spPr>
        <p:txBody>
          <a:bodyPr rtlCol="0" anchor="ctr"/>
          <a:lstStyle/>
          <a:p/>
        </p:txBody>
      </p:sp>
      <p:sp>
        <p:nvSpPr>
          <p:cNvPr id="6" name="Shape 6"/>
          <p:cNvSpPr/>
          <p:nvPr/>
        </p:nvSpPr>
        <p:spPr>
          <a:xfrm>
            <a:off x="3266667" y="2320000"/>
            <a:ext cx="2333333" cy="946667"/>
          </a:xfrm>
          <a:prstGeom prst="rightArrow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7" name="Shape 7"/>
          <p:cNvSpPr/>
          <p:nvPr/>
        </p:nvSpPr>
        <p:spPr>
          <a:xfrm>
            <a:off x="5773333" y="2320000"/>
            <a:ext cx="2333333" cy="946667"/>
          </a:xfrm>
          <a:prstGeom prst="rightArrow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8" name="Shape 8"/>
          <p:cNvSpPr/>
          <p:nvPr/>
        </p:nvSpPr>
        <p:spPr>
          <a:xfrm>
            <a:off x="8280000" y="2320000"/>
            <a:ext cx="2333333" cy="946667"/>
          </a:xfrm>
          <a:prstGeom prst="rightArrow">
            <a:avLst/>
          </a:prstGeom>
          <a:solidFill>
            <a:srgbClr val="8CF2A9"/>
          </a:solidFill>
        </p:spPr>
        <p:txBody>
          <a:bodyPr rtlCol="0"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1000000" y="2600000"/>
            <a:ext cx="1600000" cy="3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33">
                <a:solidFill>
                  <a:srgbClr val="E4EBE6"/>
                </a:solidFill>
                <a:latin typeface="Segoe UI Semibold"/>
              </a:rPr>
              <a:t>PERSON SELECTS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20000" y="2600000"/>
            <a:ext cx="1600000" cy="3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33">
                <a:solidFill>
                  <a:srgbClr val="E4EBE6"/>
                </a:solidFill>
                <a:latin typeface="Segoe UI Semibold"/>
              </a:rPr>
              <a:t>AGENT READS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26667" y="2600000"/>
            <a:ext cx="1733333" cy="3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33">
                <a:solidFill>
                  <a:srgbClr val="232925"/>
                </a:solidFill>
                <a:latin typeface="Segoe UI Semibold"/>
              </a:rPr>
              <a:t>AGENT EVOLVES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33333" y="2600000"/>
            <a:ext cx="1666667" cy="3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33">
                <a:solidFill>
                  <a:srgbClr val="232925"/>
                </a:solidFill>
                <a:latin typeface="Segoe UI Semibold"/>
              </a:rPr>
              <a:t>PERSON SEES</a:t>
            </a:r>
          </a:p>
        </p:txBody>
      </p:sp>
      <p:sp>
        <p:nvSpPr>
          <p:cNvPr id="13" name="Shape 13"/>
          <p:cNvSpPr/>
          <p:nvPr/>
        </p:nvSpPr>
        <p:spPr>
          <a:xfrm>
            <a:off x="760000" y="4266667"/>
            <a:ext cx="4800000" cy="1013333"/>
          </a:xfrm>
          <a:prstGeom prst="rect">
            <a:avLst/>
          </a:prstGeom>
          <a:solidFill>
            <a:srgbClr val="101411"/>
          </a:solidFill>
        </p:spPr>
        <p:txBody>
          <a:bodyPr rtlCol="0" anchor="ctr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1066667" y="4560000"/>
            <a:ext cx="4133333" cy="37333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267">
                <a:solidFill>
                  <a:srgbClr val="0FBF3E"/>
                </a:solidFill>
                <a:latin typeface="Segoe UI"/>
              </a:rPr>
              <a:t>get_map  →  selectedNodeId: "human"</a:t>
            </a:r>
          </a:p>
        </p:txBody>
      </p:sp>
      <p:sp>
        <p:nvSpPr>
          <p:cNvPr id="15" name="Shape 15"/>
          <p:cNvSpPr/>
          <p:nvPr/>
        </p:nvSpPr>
        <p:spPr>
          <a:xfrm>
            <a:off x="6373333" y="4266667"/>
            <a:ext cx="4800000" cy="1013333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6680000" y="4560000"/>
            <a:ext cx="4133333" cy="37333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267">
                <a:solidFill>
                  <a:srgbClr val="E4EBE6"/>
                </a:solidFill>
                <a:latin typeface="Segoe UI"/>
              </a:rPr>
              <a:t>insert_node_after  →  Verify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0000" y="5853333"/>
            <a:ext cx="10133333" cy="3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400">
                <a:solidFill>
                  <a:srgbClr val="0E6836"/>
                </a:solidFill>
                <a:latin typeface="Segoe UI Semibold"/>
              </a:rPr>
              <a:t>Human UI and agent actions meet in state — then the renderer makes that change visible.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925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906667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60000" y="1226667"/>
            <a:ext cx="9600000" cy="166666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7467" spc="-150">
                <a:solidFill>
                  <a:srgbClr val="E4EBE6"/>
                </a:solidFill>
                <a:latin typeface="Segoe UI Semibold"/>
              </a:rPr>
              <a:t>MAKE WORK</a:t>
            </a:r>
          </a:p>
          <a:p>
            <a:r>
              <a:rPr b="1" sz="7467" spc="-150">
                <a:solidFill>
                  <a:srgbClr val="0FBF3E"/>
                </a:solidFill>
                <a:latin typeface="Segoe UI Semibold"/>
              </a:rPr>
              <a:t>VISIBLE.</a:t>
            </a:r>
          </a:p>
        </p:txBody>
      </p:sp>
      <p:sp>
        <p:nvSpPr>
          <p:cNvPr id="5" name="Shape 5"/>
          <p:cNvSpPr/>
          <p:nvPr/>
        </p:nvSpPr>
        <p:spPr>
          <a:xfrm>
            <a:off x="760000" y="3600000"/>
            <a:ext cx="186667" cy="1373333"/>
          </a:xfrm>
          <a:prstGeom prst="rect">
            <a:avLst/>
          </a:prstGeom>
          <a:solidFill>
            <a:srgbClr val="8CF2A9"/>
          </a:solidFill>
        </p:spPr>
        <p:txBody>
          <a:bodyPr rtlCol="0"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1200000" y="3560000"/>
            <a:ext cx="8800000" cy="14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467">
                <a:solidFill>
                  <a:srgbClr val="E4EBE6"/>
                </a:solidFill>
                <a:latin typeface="Segoe UI Semibold"/>
              </a:rPr>
              <a:t>START WITH THE ARTIFACT.</a:t>
            </a:r>
          </a:p>
          <a:p>
            <a:r>
              <a:rPr b="1" sz="3467">
                <a:solidFill>
                  <a:srgbClr val="E4EBE6"/>
                </a:solidFill>
                <a:latin typeface="Segoe UI Semibold"/>
              </a:rPr>
              <a:t>GIVE PEOPLE CONTROLS.</a:t>
            </a:r>
          </a:p>
          <a:p>
            <a:r>
              <a:rPr b="1" sz="3467">
                <a:solidFill>
                  <a:srgbClr val="E4EBE6"/>
                </a:solidFill>
                <a:latin typeface="Segoe UI Semibold"/>
              </a:rPr>
              <a:t>GIVE THE AGENT A SMALL CONTRACT.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0000" y="5800000"/>
            <a:ext cx="9333333" cy="4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400">
                <a:solidFill>
                  <a:srgbClr val="BFFFD1"/>
                </a:solidFill>
                <a:latin typeface="Segoe UI"/>
              </a:rPr>
              <a:t>Build the thing your team already struggles to understand in chat.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EBE6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33333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60000" y="653333"/>
            <a:ext cx="9333333" cy="98666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5600" spc="-100">
                <a:solidFill>
                  <a:srgbClr val="232925"/>
                </a:solidFill>
                <a:latin typeface="Segoe UI Semibold"/>
              </a:rPr>
              <a:t>APPENDIX:</a:t>
            </a:r>
          </a:p>
          <a:p>
            <a:r>
              <a:rPr b="1" sz="5600" spc="-100">
                <a:solidFill>
                  <a:srgbClr val="232925"/>
                </a:solidFill>
                <a:latin typeface="Segoe UI Semibold"/>
              </a:rPr>
              <a:t>GO INSIDE THE APP.</a:t>
            </a:r>
          </a:p>
        </p:txBody>
      </p:sp>
      <p:sp>
        <p:nvSpPr>
          <p:cNvPr id="5" name="Shape 5"/>
          <p:cNvSpPr/>
          <p:nvPr/>
        </p:nvSpPr>
        <p:spPr>
          <a:xfrm>
            <a:off x="760000" y="2440000"/>
            <a:ext cx="4600000" cy="2613333"/>
          </a:xfrm>
          <a:prstGeom prst="rect">
            <a:avLst/>
          </a:prstGeom>
          <a:solidFill>
            <a:srgbClr val="101411"/>
          </a:solidFill>
        </p:spPr>
        <p:txBody>
          <a:bodyPr rtlCol="0"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1080000" y="2800000"/>
            <a:ext cx="3933333" cy="149333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200">
                <a:solidFill>
                  <a:srgbClr val="E4EBE6"/>
                </a:solidFill>
                <a:latin typeface="Segoe UI Semibold"/>
              </a:rPr>
              <a:t>MOBILE CANVAS</a:t>
            </a:r>
          </a:p>
          <a:p/>
          <a:p>
            <a:r>
              <a:rPr b="1" sz="2400">
                <a:solidFill>
                  <a:srgbClr val="0FBF3E"/>
                </a:solidFill>
                <a:latin typeface="Aptos"/>
              </a:rPr>
              <a:t>DEVICE SURFACE</a:t>
            </a:r>
          </a:p>
          <a:p>
            <a:r>
              <a:rPr b="1" sz="2400">
                <a:solidFill>
                  <a:srgbClr val="0FBF3E"/>
                </a:solidFill>
                <a:latin typeface="Segoe UI"/>
              </a:rPr>
              <a:t>boot • stream • tap • capture</a:t>
            </a:r>
          </a:p>
        </p:txBody>
      </p:sp>
      <p:sp>
        <p:nvSpPr>
          <p:cNvPr id="7" name="Shape 7"/>
          <p:cNvSpPr/>
          <p:nvPr/>
        </p:nvSpPr>
        <p:spPr>
          <a:xfrm>
            <a:off x="5653333" y="3373333"/>
            <a:ext cx="1386667" cy="666667"/>
          </a:xfrm>
          <a:prstGeom prst="rightArrow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8" name="Shape 8"/>
          <p:cNvSpPr/>
          <p:nvPr/>
        </p:nvSpPr>
        <p:spPr>
          <a:xfrm>
            <a:off x="7533333" y="2440000"/>
            <a:ext cx="4600000" cy="2613333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7866667" y="2800000"/>
            <a:ext cx="3933333" cy="149333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200">
                <a:solidFill>
                  <a:srgbClr val="E4EBE6"/>
                </a:solidFill>
                <a:latin typeface="Segoe UI Semibold"/>
              </a:rPr>
              <a:t>MAUI DEVFLOW</a:t>
            </a:r>
          </a:p>
          <a:p/>
          <a:p>
            <a:r>
              <a:rPr b="1" sz="2400">
                <a:solidFill>
                  <a:srgbClr val="FFFFFF"/>
                </a:solidFill>
                <a:latin typeface="Aptos"/>
              </a:rPr>
              <a:t>APP SURFACE</a:t>
            </a:r>
          </a:p>
          <a:p>
            <a:r>
              <a:rPr b="1" sz="2400">
                <a:solidFill>
                  <a:srgbClr val="E4EBE6"/>
                </a:solidFill>
                <a:latin typeface="Segoe UI"/>
              </a:rPr>
              <a:t>inspect • select • edit • replay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0000" y="5733333"/>
            <a:ext cx="10133333" cy="46666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133">
                <a:solidFill>
                  <a:srgbClr val="0E6836"/>
                </a:solidFill>
                <a:latin typeface="Segoe UI"/>
              </a:rPr>
              <a:t>Optional: DevFlow broker + built client + running MAUI app with in-app agent.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925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33333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60000" y="666667"/>
            <a:ext cx="9933333" cy="9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5867" spc="-100">
                <a:solidFill>
                  <a:srgbClr val="E4EBE6"/>
                </a:solidFill>
                <a:latin typeface="Segoe UI Semibold"/>
              </a:rPr>
              <a:t>THE WORKBENCH,</a:t>
            </a:r>
          </a:p>
          <a:p>
            <a:r>
              <a:rPr b="1" sz="5867" spc="-100">
                <a:solidFill>
                  <a:srgbClr val="E4EBE6"/>
                </a:solidFill>
                <a:latin typeface="Segoe UI Semibold"/>
              </a:rPr>
              <a:t>IN THREE MINUTES.</a:t>
            </a:r>
          </a:p>
        </p:txBody>
      </p:sp>
      <p:sp>
        <p:nvSpPr>
          <p:cNvPr id="5" name="Shape 5"/>
          <p:cNvSpPr/>
          <p:nvPr/>
        </p:nvSpPr>
        <p:spPr>
          <a:xfrm>
            <a:off x="760000" y="2440000"/>
            <a:ext cx="2666667" cy="56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6" name="Shape 6"/>
          <p:cNvSpPr/>
          <p:nvPr/>
        </p:nvSpPr>
        <p:spPr>
          <a:xfrm>
            <a:off x="760000" y="3146667"/>
            <a:ext cx="4933333" cy="560000"/>
          </a:xfrm>
          <a:prstGeom prst="rect">
            <a:avLst/>
          </a:prstGeom>
          <a:solidFill>
            <a:srgbClr val="E4EBE6"/>
          </a:solidFill>
        </p:spPr>
        <p:txBody>
          <a:bodyPr rtlCol="0" anchor="ctr"/>
          <a:lstStyle/>
          <a:p/>
        </p:txBody>
      </p:sp>
      <p:sp>
        <p:nvSpPr>
          <p:cNvPr id="7" name="Shape 7"/>
          <p:cNvSpPr/>
          <p:nvPr/>
        </p:nvSpPr>
        <p:spPr>
          <a:xfrm>
            <a:off x="760000" y="3853333"/>
            <a:ext cx="6933333" cy="560000"/>
          </a:xfrm>
          <a:prstGeom prst="rect">
            <a:avLst/>
          </a:prstGeom>
          <a:solidFill>
            <a:srgbClr val="5FED83"/>
          </a:solidFill>
        </p:spPr>
        <p:txBody>
          <a:bodyPr rtlCol="0" anchor="ctr"/>
          <a:lstStyle/>
          <a:p/>
        </p:txBody>
      </p:sp>
      <p:sp>
        <p:nvSpPr>
          <p:cNvPr id="8" name="Shape 8"/>
          <p:cNvSpPr/>
          <p:nvPr/>
        </p:nvSpPr>
        <p:spPr>
          <a:xfrm>
            <a:off x="760000" y="4560000"/>
            <a:ext cx="8933333" cy="56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9" name="Shape 9"/>
          <p:cNvSpPr/>
          <p:nvPr/>
        </p:nvSpPr>
        <p:spPr>
          <a:xfrm>
            <a:off x="760000" y="5266667"/>
            <a:ext cx="10400000" cy="560000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1040000" y="2573333"/>
            <a:ext cx="2266667" cy="28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000" spc="100">
                <a:solidFill>
                  <a:srgbClr val="E4EBE6"/>
                </a:solidFill>
                <a:latin typeface="Segoe UI Semibold"/>
              </a:rPr>
              <a:t>CHAT  /  REASON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0000" y="3280000"/>
            <a:ext cx="4400000" cy="28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000" spc="100">
                <a:solidFill>
                  <a:srgbClr val="232925"/>
                </a:solidFill>
                <a:latin typeface="Segoe UI Semibold"/>
              </a:rPr>
              <a:t>SESSIONS  /  CHOOSE WORKSPACE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0000" y="3986667"/>
            <a:ext cx="6400000" cy="28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000" spc="100">
                <a:solidFill>
                  <a:srgbClr val="232925"/>
                </a:solidFill>
                <a:latin typeface="Segoe UI Semibold"/>
              </a:rPr>
              <a:t>MY WORK  /  ISSUES + PRS + REVIEW + MERGE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0000" y="4693333"/>
            <a:ext cx="8333333" cy="28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867" spc="50">
                <a:solidFill>
                  <a:srgbClr val="E4EBE6"/>
                </a:solidFill>
                <a:latin typeface="Segoe UI Semibold"/>
              </a:rPr>
              <a:t>CUSTOMIZE  /  SKILLS + MCP + PLUGINS + CANVASES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0000" y="5400000"/>
            <a:ext cx="9600000" cy="28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867" spc="50">
                <a:solidFill>
                  <a:srgbClr val="232925"/>
                </a:solidFill>
                <a:latin typeface="Segoe UI Semibold"/>
              </a:rPr>
              <a:t>AUTOMATE  /  RUN TRUSTED JOBS LOCALLY OR IN CLOUD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0000" y="6146667"/>
            <a:ext cx="10133333" cy="34666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267">
                <a:solidFill>
                  <a:srgbClr val="BFFFD1"/>
                </a:solidFill>
                <a:latin typeface="Segoe UI"/>
              </a:rPr>
              <a:t>Then we go deep on the place where active work becomes visible: Canvases.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925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820000" y="730000"/>
            <a:ext cx="10300000" cy="7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4800" spc="-100">
                <a:solidFill>
                  <a:srgbClr val="E4EBE6"/>
                </a:solidFill>
                <a:latin typeface="Segoe UI Semibold"/>
              </a:rPr>
              <a:t>THE AGENTIC SDLC IS A TEAM SPORT.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0000" y="1640000"/>
            <a:ext cx="8300000" cy="39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000" spc="100">
                <a:solidFill>
                  <a:srgbClr val="BFFFD1"/>
                </a:solidFill>
                <a:latin typeface="Segoe UI Semibold"/>
              </a:rPr>
              <a:t>PEOPLE FRAME THE WORK.  AGENTS HELP MOVE IT.</a:t>
            </a:r>
          </a:p>
        </p:txBody>
      </p:sp>
      <p:sp>
        <p:nvSpPr>
          <p:cNvPr id="6" name="Shape 6"/>
          <p:cNvSpPr/>
          <p:nvPr/>
        </p:nvSpPr>
        <p:spPr>
          <a:xfrm>
            <a:off x="820000" y="2610000"/>
            <a:ext cx="2380000" cy="171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7" name="Shape 7"/>
          <p:cNvSpPr/>
          <p:nvPr/>
        </p:nvSpPr>
        <p:spPr>
          <a:xfrm>
            <a:off x="3400000" y="2610000"/>
            <a:ext cx="2380000" cy="1710000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8" name="Shape 8"/>
          <p:cNvSpPr/>
          <p:nvPr/>
        </p:nvSpPr>
        <p:spPr>
          <a:xfrm>
            <a:off x="5980000" y="2610000"/>
            <a:ext cx="2380000" cy="1710000"/>
          </a:xfrm>
          <a:prstGeom prst="rect">
            <a:avLst/>
          </a:prstGeom>
          <a:solidFill>
            <a:srgbClr val="8CF2A9"/>
          </a:solidFill>
        </p:spPr>
        <p:txBody>
          <a:bodyPr rtlCol="0" anchor="ctr"/>
          <a:lstStyle/>
          <a:p/>
        </p:txBody>
      </p:sp>
      <p:sp>
        <p:nvSpPr>
          <p:cNvPr id="9" name="Shape 9"/>
          <p:cNvSpPr/>
          <p:nvPr/>
        </p:nvSpPr>
        <p:spPr>
          <a:xfrm>
            <a:off x="8560000" y="2610000"/>
            <a:ext cx="2380000" cy="1710000"/>
          </a:xfrm>
          <a:prstGeom prst="rect">
            <a:avLst/>
          </a:prstGeom>
          <a:solidFill>
            <a:srgbClr val="BFFFD1"/>
          </a:solidFill>
        </p:spPr>
        <p:txBody>
          <a:bodyPr rtlCol="0" anchor="ctr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1040000" y="3090000"/>
            <a:ext cx="1800000" cy="48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300">
                <a:solidFill>
                  <a:srgbClr val="E4EBE6"/>
                </a:solidFill>
                <a:latin typeface="Segoe UI Semibold"/>
              </a:rPr>
              <a:t>PLAN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20000" y="3090000"/>
            <a:ext cx="1800000" cy="48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300">
                <a:solidFill>
                  <a:srgbClr val="101411"/>
                </a:solidFill>
                <a:latin typeface="Segoe UI Semibold"/>
              </a:rPr>
              <a:t>BUILD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80000" y="3090000"/>
            <a:ext cx="1800000" cy="48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300">
                <a:solidFill>
                  <a:srgbClr val="232925"/>
                </a:solidFill>
                <a:latin typeface="Segoe UI Semibold"/>
              </a:rPr>
              <a:t>REVIEW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40000" y="3090000"/>
            <a:ext cx="1800000" cy="48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300">
                <a:solidFill>
                  <a:srgbClr val="232925"/>
                </a:solidFill>
                <a:latin typeface="Segoe UI Semibold"/>
              </a:rPr>
              <a:t>SHIP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0000" y="5160000"/>
            <a:ext cx="10300000" cy="4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300">
                <a:solidFill>
                  <a:srgbClr val="BFFFD1"/>
                </a:solidFill>
                <a:latin typeface="Segoe UI"/>
              </a:rPr>
              <a:t>The work moves through the lifecycle. The App keeps it visible, connected, and under your control.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EBE6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820000" y="730000"/>
            <a:ext cx="9300000" cy="127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5400" spc="-150">
                <a:solidFill>
                  <a:srgbClr val="232925"/>
                </a:solidFill>
                <a:latin typeface="Segoe UI Semibold"/>
              </a:rPr>
              <a:t>ONE COPILOT.</a:t>
            </a:r>
          </a:p>
          <a:p>
            <a:r>
              <a:rPr b="1" sz="5400" spc="-150">
                <a:solidFill>
                  <a:srgbClr val="232925"/>
                </a:solidFill>
                <a:latin typeface="Segoe UI Semibold"/>
              </a:rPr>
              <a:t>WHEREVER WORK BEGINS.</a:t>
            </a:r>
          </a:p>
        </p:txBody>
      </p:sp>
      <p:sp>
        <p:nvSpPr>
          <p:cNvPr id="5" name="Shape 5"/>
          <p:cNvSpPr/>
          <p:nvPr/>
        </p:nvSpPr>
        <p:spPr>
          <a:xfrm>
            <a:off x="820000" y="2640000"/>
            <a:ext cx="2200000" cy="870000"/>
          </a:xfrm>
          <a:prstGeom prst="rect">
            <a:avLst/>
          </a:prstGeom>
          <a:solidFill>
            <a:srgbClr val="232925"/>
          </a:solidFill>
        </p:spPr>
        <p:txBody>
          <a:bodyPr rtlCol="0" anchor="ctr"/>
          <a:lstStyle/>
          <a:p/>
        </p:txBody>
      </p:sp>
      <p:sp>
        <p:nvSpPr>
          <p:cNvPr id="6" name="Shape 6"/>
          <p:cNvSpPr/>
          <p:nvPr/>
        </p:nvSpPr>
        <p:spPr>
          <a:xfrm>
            <a:off x="3370000" y="2640000"/>
            <a:ext cx="2200000" cy="87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7" name="Shape 7"/>
          <p:cNvSpPr/>
          <p:nvPr/>
        </p:nvSpPr>
        <p:spPr>
          <a:xfrm>
            <a:off x="5920000" y="2640000"/>
            <a:ext cx="2200000" cy="870000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8" name="Shape 8"/>
          <p:cNvSpPr/>
          <p:nvPr/>
        </p:nvSpPr>
        <p:spPr>
          <a:xfrm>
            <a:off x="8470000" y="2640000"/>
            <a:ext cx="2200000" cy="870000"/>
          </a:xfrm>
          <a:prstGeom prst="rect">
            <a:avLst/>
          </a:prstGeom>
          <a:solidFill>
            <a:srgbClr val="8CF2A9"/>
          </a:solidFill>
        </p:spPr>
        <p:txBody>
          <a:bodyPr rtlCol="0"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1060000" y="2900000"/>
            <a:ext cx="1700000" cy="31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600" spc="100">
                <a:solidFill>
                  <a:srgbClr val="E4EBE6"/>
                </a:solidFill>
                <a:latin typeface="Segoe UI Semibold"/>
              </a:rPr>
              <a:t>IDE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20000" y="2900000"/>
            <a:ext cx="1700000" cy="31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600" spc="100">
                <a:solidFill>
                  <a:srgbClr val="E4EBE6"/>
                </a:solidFill>
                <a:latin typeface="Segoe UI Semibold"/>
              </a:rPr>
              <a:t>TERMINAL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90000" y="2900000"/>
            <a:ext cx="1700000" cy="31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600" spc="100">
                <a:solidFill>
                  <a:srgbClr val="101411"/>
                </a:solidFill>
                <a:latin typeface="Segoe UI Semibold"/>
              </a:rPr>
              <a:t>GITHUB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60000" y="2900000"/>
            <a:ext cx="1700000" cy="31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600" spc="100">
                <a:solidFill>
                  <a:srgbClr val="232925"/>
                </a:solidFill>
                <a:latin typeface="Segoe UI Semibold"/>
              </a:rPr>
              <a:t>MOBILE</a:t>
            </a:r>
          </a:p>
        </p:txBody>
      </p:sp>
      <p:sp>
        <p:nvSpPr>
          <p:cNvPr id="13" name="Shape 13"/>
          <p:cNvSpPr/>
          <p:nvPr/>
        </p:nvSpPr>
        <p:spPr>
          <a:xfrm>
            <a:off x="4200000" y="4080000"/>
            <a:ext cx="4000000" cy="680000"/>
          </a:xfrm>
          <a:prstGeom prst="rightArrow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820000" y="5200000"/>
            <a:ext cx="9000000" cy="54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900" spc="100">
                <a:solidFill>
                  <a:srgbClr val="0E6836"/>
                </a:solidFill>
                <a:latin typeface="Segoe UI Semibold"/>
              </a:rPr>
              <a:t>THE COPILOT APP BRINGS ACTIVE WORK TOGETHER.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925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820000" y="730000"/>
            <a:ext cx="10100000" cy="7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4800" spc="-100">
                <a:solidFill>
                  <a:srgbClr val="E4EBE6"/>
                </a:solidFill>
                <a:latin typeface="Segoe UI Semibold"/>
              </a:rPr>
              <a:t>START FROM WHAT YOU HAVE.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0000" y="1580000"/>
            <a:ext cx="8000000" cy="37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000" spc="100">
                <a:solidFill>
                  <a:srgbClr val="BFFFD1"/>
                </a:solidFill>
                <a:latin typeface="Segoe UI Semibold"/>
              </a:rPr>
              <a:t>AN ISSUE.  A PROMPT.  A PULL REQUEST ALREADY IN FLIGHT.</a:t>
            </a:r>
          </a:p>
        </p:txBody>
      </p:sp>
      <p:sp>
        <p:nvSpPr>
          <p:cNvPr id="6" name="Shape 6"/>
          <p:cNvSpPr/>
          <p:nvPr/>
        </p:nvSpPr>
        <p:spPr>
          <a:xfrm>
            <a:off x="820000" y="2360000"/>
            <a:ext cx="2000000" cy="79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7" name="Shape 7"/>
          <p:cNvSpPr/>
          <p:nvPr/>
        </p:nvSpPr>
        <p:spPr>
          <a:xfrm>
            <a:off x="3140000" y="2360000"/>
            <a:ext cx="2000000" cy="790000"/>
          </a:xfrm>
          <a:prstGeom prst="rect">
            <a:avLst/>
          </a:prstGeom>
          <a:solidFill>
            <a:srgbClr val="087827"/>
          </a:solidFill>
        </p:spPr>
        <p:txBody>
          <a:bodyPr rtlCol="0" anchor="ctr"/>
          <a:lstStyle/>
          <a:p/>
        </p:txBody>
      </p:sp>
      <p:sp>
        <p:nvSpPr>
          <p:cNvPr id="8" name="Shape 8"/>
          <p:cNvSpPr/>
          <p:nvPr/>
        </p:nvSpPr>
        <p:spPr>
          <a:xfrm>
            <a:off x="5460000" y="2360000"/>
            <a:ext cx="2000000" cy="790000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1090000" y="2590000"/>
            <a:ext cx="14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300">
                <a:solidFill>
                  <a:srgbClr val="E4EBE6"/>
                </a:solidFill>
                <a:latin typeface="Segoe UI Semibold"/>
              </a:rPr>
              <a:t>ISSUE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10000" y="2590000"/>
            <a:ext cx="14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300">
                <a:solidFill>
                  <a:srgbClr val="E4EBE6"/>
                </a:solidFill>
                <a:latin typeface="Segoe UI Semibold"/>
              </a:rPr>
              <a:t>PROMPT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80000" y="2590000"/>
            <a:ext cx="15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800">
                <a:solidFill>
                  <a:srgbClr val="232925"/>
                </a:solidFill>
                <a:latin typeface="Segoe UI Semibold"/>
              </a:rPr>
              <a:t>PULL REQUEST</a:t>
            </a:r>
          </a:p>
        </p:txBody>
      </p:sp>
      <p:sp>
        <p:nvSpPr>
          <p:cNvPr id="12" name="Shape 12"/>
          <p:cNvSpPr/>
          <p:nvPr/>
        </p:nvSpPr>
        <p:spPr>
          <a:xfrm>
            <a:off x="7760000" y="2500000"/>
            <a:ext cx="1280000" cy="510000"/>
          </a:xfrm>
          <a:prstGeom prst="rightArrow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13" name="Shape 13"/>
          <p:cNvSpPr/>
          <p:nvPr/>
        </p:nvSpPr>
        <p:spPr>
          <a:xfrm>
            <a:off x="9280000" y="2160000"/>
            <a:ext cx="2100000" cy="1180000"/>
          </a:xfrm>
          <a:prstGeom prst="rect">
            <a:avLst/>
          </a:prstGeom>
          <a:solidFill>
            <a:srgbClr val="101411"/>
          </a:solidFill>
        </p:spPr>
        <p:txBody>
          <a:bodyPr rtlCol="0" anchor="ctr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9540000" y="2430000"/>
            <a:ext cx="1580000" cy="4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300">
                <a:solidFill>
                  <a:srgbClr val="E4EBE6"/>
                </a:solidFill>
                <a:latin typeface="Segoe UI Semibold"/>
              </a:rPr>
              <a:t>SESSION</a:t>
            </a:r>
          </a:p>
          <a:p>
            <a:r>
              <a:rPr b="1" sz="2000">
                <a:solidFill>
                  <a:srgbClr val="8CF2A9"/>
                </a:solidFill>
                <a:latin typeface="Segoe UI Semibold"/>
              </a:rPr>
              <a:t>+ WORKSPACE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0000" y="4180000"/>
            <a:ext cx="10500000" cy="61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900" spc="50">
                <a:solidFill>
                  <a:srgbClr val="BFFFD1"/>
                </a:solidFill>
                <a:latin typeface="Segoe UI Semibold"/>
              </a:rPr>
              <a:t>CHOOSE THE WORKSPACE:  WORKTREE  •  EXISTING LOCAL CHECKOUT  •  CLOUD SANDBOX</a:t>
            </a:r>
          </a:p>
        </p:txBody>
      </p:sp>
      <p:sp>
        <p:nvSpPr>
          <p:cNvPr id="16" name="Shape 16"/>
          <p:cNvSpPr/>
          <p:nvPr/>
        </p:nvSpPr>
        <p:spPr>
          <a:xfrm>
            <a:off x="820000" y="5420000"/>
            <a:ext cx="3680000" cy="55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1030000" y="5580000"/>
            <a:ext cx="3280000" cy="2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600" spc="100">
                <a:solidFill>
                  <a:srgbClr val="E4EBE6"/>
                </a:solidFill>
                <a:latin typeface="Segoe UI Semibold"/>
              </a:rPr>
              <a:t>PLAY SOURCE VIDEO 01  /  SESSIONS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EBE6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820000" y="730000"/>
            <a:ext cx="10200000" cy="7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4900" spc="-100">
                <a:solidFill>
                  <a:srgbClr val="232925"/>
                </a:solidFill>
                <a:latin typeface="Segoe UI Semibold"/>
              </a:rPr>
              <a:t>FROM ISSUE TO MERGE.</a:t>
            </a:r>
          </a:p>
          <a:p>
            <a:r>
              <a:rPr b="1" sz="4900" spc="-100">
                <a:solidFill>
                  <a:srgbClr val="232925"/>
                </a:solidFill>
                <a:latin typeface="Segoe UI Semibold"/>
              </a:rPr>
              <a:t>IN ONE APP.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0000" y="2040000"/>
            <a:ext cx="8600000" cy="3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900" spc="50">
                <a:solidFill>
                  <a:srgbClr val="0E6836"/>
                </a:solidFill>
                <a:latin typeface="Segoe UI Semibold"/>
              </a:rPr>
              <a:t>MY WORK IS THE DELIVERY SURFACE FOR WORK THAT NEEDS JUDGMENT.</a:t>
            </a:r>
          </a:p>
        </p:txBody>
      </p:sp>
      <p:sp>
        <p:nvSpPr>
          <p:cNvPr id="6" name="Shape 6"/>
          <p:cNvSpPr/>
          <p:nvPr/>
        </p:nvSpPr>
        <p:spPr>
          <a:xfrm>
            <a:off x="820000" y="2650000"/>
            <a:ext cx="2200000" cy="990000"/>
          </a:xfrm>
          <a:prstGeom prst="rect">
            <a:avLst/>
          </a:prstGeom>
          <a:solidFill>
            <a:srgbClr val="232925"/>
          </a:solidFill>
        </p:spPr>
        <p:txBody>
          <a:bodyPr rtlCol="0" anchor="ctr"/>
          <a:lstStyle/>
          <a:p/>
        </p:txBody>
      </p:sp>
      <p:sp>
        <p:nvSpPr>
          <p:cNvPr id="7" name="Shape 7"/>
          <p:cNvSpPr/>
          <p:nvPr/>
        </p:nvSpPr>
        <p:spPr>
          <a:xfrm>
            <a:off x="3220000" y="2870000"/>
            <a:ext cx="740000" cy="460000"/>
          </a:xfrm>
          <a:prstGeom prst="rightArrow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8" name="Shape 8"/>
          <p:cNvSpPr/>
          <p:nvPr/>
        </p:nvSpPr>
        <p:spPr>
          <a:xfrm>
            <a:off x="4280000" y="2650000"/>
            <a:ext cx="2200000" cy="99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9" name="Shape 9"/>
          <p:cNvSpPr/>
          <p:nvPr/>
        </p:nvSpPr>
        <p:spPr>
          <a:xfrm>
            <a:off x="6680000" y="2870000"/>
            <a:ext cx="740000" cy="460000"/>
          </a:xfrm>
          <a:prstGeom prst="rightArrow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10" name="Shape 10"/>
          <p:cNvSpPr/>
          <p:nvPr/>
        </p:nvSpPr>
        <p:spPr>
          <a:xfrm>
            <a:off x="7740000" y="2650000"/>
            <a:ext cx="2200000" cy="990000"/>
          </a:xfrm>
          <a:prstGeom prst="rect">
            <a:avLst/>
          </a:prstGeom>
          <a:solidFill>
            <a:srgbClr val="8CF2A9"/>
          </a:solidFill>
        </p:spPr>
        <p:txBody>
          <a:bodyPr rtlCol="0" anchor="ctr"/>
          <a:lstStyle/>
          <a:p/>
        </p:txBody>
      </p:sp>
      <p:sp>
        <p:nvSpPr>
          <p:cNvPr id="11" name="Shape 11"/>
          <p:cNvSpPr/>
          <p:nvPr/>
        </p:nvSpPr>
        <p:spPr>
          <a:xfrm>
            <a:off x="10140000" y="2870000"/>
            <a:ext cx="740000" cy="460000"/>
          </a:xfrm>
          <a:prstGeom prst="rightArrow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1090000" y="2960000"/>
            <a:ext cx="165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400">
                <a:solidFill>
                  <a:srgbClr val="E4EBE6"/>
                </a:solidFill>
                <a:latin typeface="Segoe UI Semibold"/>
              </a:rPr>
              <a:t>TRIAGE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60000" y="2960000"/>
            <a:ext cx="165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400">
                <a:solidFill>
                  <a:srgbClr val="E4EBE6"/>
                </a:solidFill>
                <a:latin typeface="Segoe UI Semibold"/>
              </a:rPr>
              <a:t>SESSION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00000" y="2960000"/>
            <a:ext cx="165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100">
                <a:solidFill>
                  <a:srgbClr val="232925"/>
                </a:solidFill>
                <a:latin typeface="Segoe UI Semibold"/>
              </a:rPr>
              <a:t>REVIEW + CI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70000" y="2960000"/>
            <a:ext cx="7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900">
                <a:solidFill>
                  <a:srgbClr val="232925"/>
                </a:solidFill>
                <a:latin typeface="Segoe UI Semibold"/>
              </a:rPr>
              <a:t>MERGE</a:t>
            </a:r>
          </a:p>
        </p:txBody>
      </p:sp>
      <p:sp>
        <p:nvSpPr>
          <p:cNvPr id="16" name="Shape 16"/>
          <p:cNvSpPr/>
          <p:nvPr/>
        </p:nvSpPr>
        <p:spPr>
          <a:xfrm>
            <a:off x="820000" y="4670000"/>
            <a:ext cx="4200000" cy="52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1060000" y="4810000"/>
            <a:ext cx="3700000" cy="2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600" spc="50">
                <a:solidFill>
                  <a:srgbClr val="E4EBE6"/>
                </a:solidFill>
                <a:latin typeface="Segoe UI Semibold"/>
              </a:rPr>
              <a:t>PLAY SOURCE VIDEO 02  /  MY WORK</a:t>
            </a:r>
          </a:p>
        </p:txBody>
      </p:sp>
      <p:sp>
        <p:nvSpPr>
          <p:cNvPr id="18" name="Shape 18"/>
          <p:cNvSpPr/>
          <p:nvPr/>
        </p:nvSpPr>
        <p:spPr>
          <a:xfrm>
            <a:off x="6700000" y="4670000"/>
            <a:ext cx="4200000" cy="520000"/>
          </a:xfrm>
          <a:prstGeom prst="rect">
            <a:avLst/>
          </a:prstGeom>
          <a:solidFill>
            <a:srgbClr val="232925"/>
          </a:solidFill>
        </p:spPr>
        <p:txBody>
          <a:bodyPr rtlCol="0" anchor="ctr"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6940000" y="4810000"/>
            <a:ext cx="3700000" cy="2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600" spc="50">
                <a:solidFill>
                  <a:srgbClr val="E4EBE6"/>
                </a:solidFill>
                <a:latin typeface="Segoe UI Semibold"/>
              </a:rPr>
              <a:t>PLAY SOURCE VIDEO 04  /  REVIEW + MERGE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925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820000" y="730000"/>
            <a:ext cx="10400000" cy="13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4900" spc="-100">
                <a:solidFill>
                  <a:srgbClr val="E4EBE6"/>
                </a:solidFill>
                <a:latin typeface="Segoe UI Semibold"/>
              </a:rPr>
              <a:t>WHEN A JOB IS TRUSTED,</a:t>
            </a:r>
          </a:p>
          <a:p>
            <a:r>
              <a:rPr b="1" sz="4900" spc="-100">
                <a:solidFill>
                  <a:srgbClr val="E4EBE6"/>
                </a:solidFill>
                <a:latin typeface="Segoe UI Semibold"/>
              </a:rPr>
              <a:t>MAKE IT REPEATABLE.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0000" y="2200000"/>
            <a:ext cx="3300000" cy="3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00" spc="50">
                <a:solidFill>
                  <a:srgbClr val="BFFFD1"/>
                </a:solidFill>
                <a:latin typeface="Segoe UI Semibold"/>
              </a:rPr>
              <a:t>SCHEDULE  •  ON DEMAND  •  ISSUE / PR EVENT</a:t>
            </a:r>
          </a:p>
        </p:txBody>
      </p:sp>
      <p:sp>
        <p:nvSpPr>
          <p:cNvPr id="6" name="Shape 6"/>
          <p:cNvSpPr/>
          <p:nvPr/>
        </p:nvSpPr>
        <p:spPr>
          <a:xfrm>
            <a:off x="4100000" y="2140000"/>
            <a:ext cx="1280000" cy="500000"/>
          </a:xfrm>
          <a:prstGeom prst="rightArrow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7" name="Shape 7"/>
          <p:cNvSpPr/>
          <p:nvPr/>
        </p:nvSpPr>
        <p:spPr>
          <a:xfrm>
            <a:off x="5740000" y="1810000"/>
            <a:ext cx="2940000" cy="116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6060000" y="2160000"/>
            <a:ext cx="23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100" spc="100">
                <a:solidFill>
                  <a:srgbClr val="E4EBE6"/>
                </a:solidFill>
                <a:latin typeface="Segoe UI Semibold"/>
              </a:rPr>
              <a:t>AUTOMATION</a:t>
            </a:r>
          </a:p>
        </p:txBody>
      </p:sp>
      <p:sp>
        <p:nvSpPr>
          <p:cNvPr id="9" name="Shape 9"/>
          <p:cNvSpPr/>
          <p:nvPr/>
        </p:nvSpPr>
        <p:spPr>
          <a:xfrm>
            <a:off x="820000" y="3530000"/>
            <a:ext cx="3150000" cy="890000"/>
          </a:xfrm>
          <a:prstGeom prst="rect">
            <a:avLst/>
          </a:prstGeom>
          <a:solidFill>
            <a:srgbClr val="101411"/>
          </a:solidFill>
        </p:spPr>
        <p:txBody>
          <a:bodyPr rtlCol="0" anchor="ctr"/>
          <a:lstStyle/>
          <a:p/>
        </p:txBody>
      </p:sp>
      <p:sp>
        <p:nvSpPr>
          <p:cNvPr id="10" name="Shape 10"/>
          <p:cNvSpPr/>
          <p:nvPr/>
        </p:nvSpPr>
        <p:spPr>
          <a:xfrm>
            <a:off x="4520000" y="3530000"/>
            <a:ext cx="3150000" cy="89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11" name="Shape 11"/>
          <p:cNvSpPr/>
          <p:nvPr/>
        </p:nvSpPr>
        <p:spPr>
          <a:xfrm>
            <a:off x="8220000" y="3530000"/>
            <a:ext cx="3150000" cy="890000"/>
          </a:xfrm>
          <a:prstGeom prst="rect">
            <a:avLst/>
          </a:prstGeom>
          <a:solidFill>
            <a:srgbClr val="8CF2A9"/>
          </a:solidFill>
        </p:spPr>
        <p:txBody>
          <a:bodyPr rtlCol="0" anchor="ctr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1050000" y="3830000"/>
            <a:ext cx="27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500">
                <a:solidFill>
                  <a:srgbClr val="E4EBE6"/>
                </a:solidFill>
                <a:latin typeface="Segoe UI Semibold"/>
              </a:rPr>
              <a:t>TRIAGE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50000" y="3830000"/>
            <a:ext cx="27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500">
                <a:solidFill>
                  <a:srgbClr val="E4EBE6"/>
                </a:solidFill>
                <a:latin typeface="Segoe UI Semibold"/>
              </a:rPr>
              <a:t>INVESTIGATE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00000" y="3830000"/>
            <a:ext cx="27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500">
                <a:solidFill>
                  <a:srgbClr val="232925"/>
                </a:solidFill>
                <a:latin typeface="Segoe UI Semibold"/>
              </a:rPr>
              <a:t>DRAFT</a:t>
            </a:r>
          </a:p>
        </p:txBody>
      </p:sp>
      <p:sp>
        <p:nvSpPr>
          <p:cNvPr id="15" name="Shape 15"/>
          <p:cNvSpPr/>
          <p:nvPr/>
        </p:nvSpPr>
        <p:spPr>
          <a:xfrm>
            <a:off x="820000" y="5220000"/>
            <a:ext cx="4000000" cy="55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1060000" y="5380000"/>
            <a:ext cx="3500000" cy="2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600" spc="50">
                <a:solidFill>
                  <a:srgbClr val="E4EBE6"/>
                </a:solidFill>
                <a:latin typeface="Segoe UI Semibold"/>
              </a:rPr>
              <a:t>PLAY SOURCE VIDEO 05  /  AUTOMATIONS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760000" y="5220000"/>
            <a:ext cx="5600000" cy="51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700">
                <a:solidFill>
                  <a:srgbClr val="BFFFD1"/>
                </a:solidFill>
                <a:latin typeface="Segoe UI"/>
              </a:rPr>
              <a:t>Grant only the tools the job needs. Cloud runs require policy and cloud-agent availability.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EBE6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820000" y="730000"/>
            <a:ext cx="10300000" cy="7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4900" spc="-100">
                <a:solidFill>
                  <a:srgbClr val="232925"/>
                </a:solidFill>
                <a:latin typeface="Segoe UI Semibold"/>
              </a:rPr>
              <a:t>MAKE THE WORKBENCH YOURS.</a:t>
            </a:r>
          </a:p>
        </p:txBody>
      </p:sp>
      <p:sp>
        <p:nvSpPr>
          <p:cNvPr id="5" name="Shape 5"/>
          <p:cNvSpPr/>
          <p:nvPr/>
        </p:nvSpPr>
        <p:spPr>
          <a:xfrm>
            <a:off x="820000" y="2050000"/>
            <a:ext cx="4920000" cy="1710000"/>
          </a:xfrm>
          <a:prstGeom prst="rect">
            <a:avLst/>
          </a:prstGeom>
          <a:solidFill>
            <a:srgbClr val="232925"/>
          </a:solidFill>
        </p:spPr>
        <p:txBody>
          <a:bodyPr rtlCol="0" anchor="ctr"/>
          <a:lstStyle/>
          <a:p/>
        </p:txBody>
      </p:sp>
      <p:sp>
        <p:nvSpPr>
          <p:cNvPr id="6" name="Shape 6"/>
          <p:cNvSpPr/>
          <p:nvPr/>
        </p:nvSpPr>
        <p:spPr>
          <a:xfrm>
            <a:off x="6400000" y="2050000"/>
            <a:ext cx="4920000" cy="171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1100000" y="2370000"/>
            <a:ext cx="4180000" cy="3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200" spc="100">
                <a:solidFill>
                  <a:srgbClr val="8CF2A9"/>
                </a:solidFill>
                <a:latin typeface="Segoe UI Semibold"/>
              </a:rPr>
              <a:t>SETTINGS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0000" y="2880000"/>
            <a:ext cx="4100000" cy="5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000">
                <a:solidFill>
                  <a:srgbClr val="E4EBE6"/>
                </a:solidFill>
                <a:latin typeface="Segoe UI Semibold"/>
              </a:rPr>
              <a:t>GLOBAL + REPOSITORY</a:t>
            </a:r>
          </a:p>
          <a:p>
            <a:r>
              <a:rPr b="1" sz="3000">
                <a:solidFill>
                  <a:srgbClr val="E4EBE6"/>
                </a:solidFill>
                <a:latin typeface="Segoe UI Semibold"/>
              </a:rPr>
              <a:t>INSTRUCTIONS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00000" y="2370000"/>
            <a:ext cx="4180000" cy="3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200" spc="100">
                <a:solidFill>
                  <a:srgbClr val="BFFFD1"/>
                </a:solidFill>
                <a:latin typeface="Segoe UI Semibold"/>
              </a:rPr>
              <a:t>CUSTOMIZE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00000" y="2820000"/>
            <a:ext cx="4100000" cy="69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800">
                <a:solidFill>
                  <a:srgbClr val="E4EBE6"/>
                </a:solidFill>
                <a:latin typeface="Segoe UI Semibold"/>
              </a:rPr>
              <a:t>SKILLS  •  MCP  •  PLUGINS</a:t>
            </a:r>
          </a:p>
          <a:p>
            <a:r>
              <a:rPr b="1" sz="2800">
                <a:solidFill>
                  <a:srgbClr val="E4EBE6"/>
                </a:solidFill>
                <a:latin typeface="Segoe UI Semibold"/>
              </a:rPr>
              <a:t>CANVASES</a:t>
            </a:r>
          </a:p>
        </p:txBody>
      </p:sp>
      <p:sp>
        <p:nvSpPr>
          <p:cNvPr id="11" name="Shape 11"/>
          <p:cNvSpPr/>
          <p:nvPr/>
        </p:nvSpPr>
        <p:spPr>
          <a:xfrm>
            <a:off x="4650000" y="4380000"/>
            <a:ext cx="2900000" cy="590000"/>
          </a:xfrm>
          <a:prstGeom prst="rightArrow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820000" y="5480000"/>
            <a:ext cx="10300000" cy="3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300">
                <a:solidFill>
                  <a:srgbClr val="0E6836"/>
                </a:solidFill>
                <a:latin typeface="Segoe UI"/>
              </a:rPr>
              <a:t>Bring the agent the standards, expertise, connections, and work surfaces your workflow requires.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