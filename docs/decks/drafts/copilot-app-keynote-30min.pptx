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a concrete next step. The source deck supplies gh.io/app, gh.io/dev-days/workshop, and gh.io/dev-days/feedback. The keynote hands off to the 45-minute technical session for Canvas internals, live Canvas demos, and a project-scoped build.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386667" cy="6858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Shape 4"/>
          <p:cNvSpPr/>
          <p:nvPr/>
        </p:nvSpPr>
        <p:spPr>
          <a:xfrm>
            <a:off x="8866667" y="0"/>
            <a:ext cx="3325333" cy="37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5" name="Shape 5"/>
          <p:cNvSpPr/>
          <p:nvPr/>
        </p:nvSpPr>
        <p:spPr>
          <a:xfrm>
            <a:off x="800000" y="510000"/>
            <a:ext cx="193333" cy="145000"/>
          </a:xfrm>
          <a:prstGeom prst="ellipse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800000" y="6100000"/>
            <a:ext cx="193333" cy="145000"/>
          </a:xfrm>
          <a:prstGeom prst="ellipse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00000" y="970000"/>
            <a:ext cx="6000000" cy="5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800" spc="200">
                <a:solidFill>
                  <a:srgbClr val="8CF2A9"/>
                </a:solidFill>
                <a:latin typeface="Segoe UI Semibold"/>
              </a:rPr>
              <a:t>GITHUB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0000" y="1640000"/>
            <a:ext cx="8933333" cy="14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800" spc="-100">
                <a:solidFill>
                  <a:srgbClr val="E4EBE6"/>
                </a:solidFill>
                <a:latin typeface="Segoe UI Semibold"/>
              </a:rPr>
              <a:t>COPILOT</a:t>
            </a:r>
          </a:p>
          <a:p>
            <a:r>
              <a:rPr b="1" sz="5800" spc="-100">
                <a:solidFill>
                  <a:srgbClr val="E4EBE6"/>
                </a:solidFill>
                <a:latin typeface="Segoe UI Semibold"/>
              </a:rPr>
              <a:t>APP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667" y="3560000"/>
            <a:ext cx="7733333" cy="6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300">
                <a:solidFill>
                  <a:srgbClr val="BFFFD1"/>
                </a:solidFill>
                <a:latin typeface="Segoe UI"/>
              </a:rPr>
              <a:t>The workbench for the agentic SDLC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6667" y="5830000"/>
            <a:ext cx="6533333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300" spc="100">
                <a:solidFill>
                  <a:srgbClr val="E4EBE6"/>
                </a:solidFill>
                <a:latin typeface="Segoe UI Semibold"/>
              </a:rPr>
              <a:t>Dev Days 2026  •  30-minute keynote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20000"/>
            <a:ext cx="10400000" cy="5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100" spc="-100">
                <a:solidFill>
                  <a:srgbClr val="232925"/>
                </a:solidFill>
                <a:latin typeface="Segoe UI Semibold"/>
              </a:rPr>
              <a:t>THE AGENTIC SDLC IS A TEAM SPORT.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0000" y="1390000"/>
            <a:ext cx="92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 spc="100">
                <a:solidFill>
                  <a:srgbClr val="0E6836"/>
                </a:solidFill>
                <a:latin typeface="Segoe UI Semibold"/>
              </a:rPr>
              <a:t>PEOPLE FRAME THE WORK.  AGENTS HELP MOVE IT.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2460000"/>
            <a:ext cx="2533333" cy="164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3560000" y="2460000"/>
            <a:ext cx="2533333" cy="164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6360000" y="2460000"/>
            <a:ext cx="2533333" cy="164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9160000" y="2460000"/>
            <a:ext cx="2266667" cy="164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093333" y="2960000"/>
            <a:ext cx="1733333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100">
                <a:solidFill>
                  <a:srgbClr val="E4EBE6"/>
                </a:solidFill>
                <a:latin typeface="Segoe UI Semibold"/>
              </a:rPr>
              <a:t>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93333" y="2960000"/>
            <a:ext cx="1733333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100">
                <a:solidFill>
                  <a:srgbClr val="E4EBE6"/>
                </a:solidFill>
                <a:latin typeface="Segoe UI Semibold"/>
              </a:rPr>
              <a:t>BUILD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3333" y="2960000"/>
            <a:ext cx="1733333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100">
                <a:solidFill>
                  <a:srgbClr val="101411"/>
                </a:solidFill>
                <a:latin typeface="Segoe UI Semibold"/>
              </a:rPr>
              <a:t>REVIEW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3333" y="2960000"/>
            <a:ext cx="1600000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100">
                <a:solidFill>
                  <a:srgbClr val="232925"/>
                </a:solidFill>
                <a:latin typeface="Segoe UI Semibold"/>
              </a:rPr>
              <a:t>SHIP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0000" y="5130000"/>
            <a:ext cx="10400000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00">
                <a:solidFill>
                  <a:srgbClr val="0E6836"/>
                </a:solidFill>
                <a:latin typeface="Segoe UI"/>
              </a:rPr>
              <a:t>The App makes the work in motion visible, connected, and ready for human judgment.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20000"/>
            <a:ext cx="10400000" cy="11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600" spc="-100">
                <a:solidFill>
                  <a:srgbClr val="E4EBE6"/>
                </a:solidFill>
                <a:latin typeface="Segoe UI Semibold"/>
              </a:rPr>
              <a:t>ONE COPILOT.</a:t>
            </a:r>
          </a:p>
          <a:p>
            <a:r>
              <a:rPr b="1" sz="4600" spc="-100">
                <a:solidFill>
                  <a:srgbClr val="E4EBE6"/>
                </a:solidFill>
                <a:latin typeface="Segoe UI Semibold"/>
              </a:rPr>
              <a:t>WHEREVER WORK BEGINS.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2420000"/>
            <a:ext cx="2533333" cy="90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3560000" y="2420000"/>
            <a:ext cx="2533333" cy="900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6360000" y="2420000"/>
            <a:ext cx="2533333" cy="90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9160000" y="2420000"/>
            <a:ext cx="2266667" cy="90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80000" y="2730000"/>
            <a:ext cx="1866667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300" spc="100">
                <a:solidFill>
                  <a:srgbClr val="E4EBE6"/>
                </a:solidFill>
                <a:latin typeface="Segoe UI Semibold"/>
              </a:rPr>
              <a:t>IDE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93333" y="2730000"/>
            <a:ext cx="1866667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300" spc="100">
                <a:solidFill>
                  <a:srgbClr val="E4EBE6"/>
                </a:solidFill>
                <a:latin typeface="Segoe UI Semibold"/>
              </a:rPr>
              <a:t>TERMINAL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93333" y="2730000"/>
            <a:ext cx="1866667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300" spc="100">
                <a:solidFill>
                  <a:srgbClr val="101411"/>
                </a:solidFill>
                <a:latin typeface="Segoe UI Semibold"/>
              </a:rPr>
              <a:t>GITHUB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3333" y="2730000"/>
            <a:ext cx="16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300" spc="100">
                <a:solidFill>
                  <a:srgbClr val="232925"/>
                </a:solidFill>
                <a:latin typeface="Segoe UI Semibold"/>
              </a:rPr>
              <a:t>MOBILE</a:t>
            </a:r>
          </a:p>
        </p:txBody>
      </p:sp>
      <p:sp>
        <p:nvSpPr>
          <p:cNvPr id="13" name="Shape 13"/>
          <p:cNvSpPr/>
          <p:nvPr/>
        </p:nvSpPr>
        <p:spPr>
          <a:xfrm>
            <a:off x="4200000" y="4090000"/>
            <a:ext cx="4800000" cy="62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60000" y="5280000"/>
            <a:ext cx="10533333" cy="3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500" spc="100">
                <a:solidFill>
                  <a:srgbClr val="BFFFD1"/>
                </a:solidFill>
                <a:latin typeface="Segoe UI Semibold"/>
              </a:rPr>
              <a:t>THE COPILOT APP BRINGS ACTIVE AGENT WORK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90000"/>
            <a:ext cx="10533333" cy="116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800" spc="-100">
                <a:solidFill>
                  <a:srgbClr val="232925"/>
                </a:solidFill>
                <a:latin typeface="Segoe UI Semibold"/>
              </a:rPr>
              <a:t>FROM ISSUE TO MERGE.</a:t>
            </a:r>
          </a:p>
          <a:p>
            <a:r>
              <a:rPr b="1" sz="4800" spc="-100">
                <a:solidFill>
                  <a:srgbClr val="232925"/>
                </a:solidFill>
                <a:latin typeface="Segoe UI Semibold"/>
              </a:rPr>
              <a:t>IN ONE APP.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2420000"/>
            <a:ext cx="10400000" cy="105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200000" y="2720000"/>
            <a:ext cx="9600000" cy="3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200" spc="100">
                <a:solidFill>
                  <a:srgbClr val="BFFFD1"/>
                </a:solidFill>
                <a:latin typeface="Segoe UI Semibold"/>
              </a:rPr>
              <a:t>START  →  DIRECT  →  INSPECT  →  REVIEW  →  DELIVER</a:t>
            </a:r>
          </a:p>
        </p:txBody>
      </p:sp>
      <p:sp>
        <p:nvSpPr>
          <p:cNvPr id="7" name="Shape 7"/>
          <p:cNvSpPr/>
          <p:nvPr/>
        </p:nvSpPr>
        <p:spPr>
          <a:xfrm>
            <a:off x="760000" y="4090000"/>
            <a:ext cx="2400000" cy="7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3426667" y="4090000"/>
            <a:ext cx="2400000" cy="760000"/>
          </a:xfrm>
          <a:prstGeom prst="rect">
            <a:avLst/>
          </a:prstGeom>
          <a:solidFill>
            <a:srgbClr val="232925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6093333" y="4090000"/>
            <a:ext cx="2400000" cy="76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0" name="Shape 10"/>
          <p:cNvSpPr/>
          <p:nvPr/>
        </p:nvSpPr>
        <p:spPr>
          <a:xfrm>
            <a:off x="8760000" y="4090000"/>
            <a:ext cx="2400000" cy="76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1093333" y="4350000"/>
            <a:ext cx="1733333" cy="23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>
                <a:solidFill>
                  <a:srgbClr val="E4EBE6"/>
                </a:solidFill>
                <a:latin typeface="Segoe UI Semibold"/>
              </a:rPr>
              <a:t>SESSIONS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60000" y="4350000"/>
            <a:ext cx="1733333" cy="23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>
                <a:solidFill>
                  <a:srgbClr val="E4EBE6"/>
                </a:solidFill>
                <a:latin typeface="Segoe UI Semibold"/>
              </a:rPr>
              <a:t>MY 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26667" y="4350000"/>
            <a:ext cx="1733333" cy="23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>
                <a:solidFill>
                  <a:srgbClr val="101411"/>
                </a:solidFill>
                <a:latin typeface="Segoe UI Semibold"/>
              </a:rPr>
              <a:t>CANVASES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93333" y="4350000"/>
            <a:ext cx="1733333" cy="23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>
                <a:solidFill>
                  <a:srgbClr val="232925"/>
                </a:solidFill>
                <a:latin typeface="Segoe UI Semibold"/>
              </a:rPr>
              <a:t>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50000"/>
            <a:ext cx="10533333" cy="10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800" spc="-100">
                <a:solidFill>
                  <a:srgbClr val="E4EBE6"/>
                </a:solidFill>
                <a:latin typeface="Segoe UI Semibold"/>
              </a:rPr>
              <a:t>START FROM</a:t>
            </a:r>
          </a:p>
          <a:p>
            <a:r>
              <a:rPr b="1" sz="4800" spc="-100">
                <a:solidFill>
                  <a:srgbClr val="E4EBE6"/>
                </a:solidFill>
                <a:latin typeface="Segoe UI Semibold"/>
              </a:rPr>
              <a:t>WHAT YOU HAVE.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0000" y="1990000"/>
            <a:ext cx="9066667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000" spc="100">
                <a:solidFill>
                  <a:srgbClr val="BFFFD1"/>
                </a:solidFill>
                <a:latin typeface="Segoe UI Semibold"/>
              </a:rPr>
              <a:t>ISSUE  •  PROMPT  •  PULL REQUEST</a:t>
            </a:r>
          </a:p>
        </p:txBody>
      </p:sp>
      <p:sp>
        <p:nvSpPr>
          <p:cNvPr id="6" name="Shape 6"/>
          <p:cNvSpPr/>
          <p:nvPr/>
        </p:nvSpPr>
        <p:spPr>
          <a:xfrm>
            <a:off x="3373333" y="2940000"/>
            <a:ext cx="2600000" cy="63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6533333" y="2620000"/>
            <a:ext cx="4200000" cy="124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7066667" y="2940000"/>
            <a:ext cx="3066667" cy="4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E4EBE6"/>
                </a:solidFill>
                <a:latin typeface="Segoe UI Semibold"/>
              </a:rPr>
              <a:t>SESSION</a:t>
            </a:r>
          </a:p>
          <a:p>
            <a:r>
              <a:rPr b="1" sz="2500">
                <a:solidFill>
                  <a:srgbClr val="8CF2A9"/>
                </a:solidFill>
                <a:latin typeface="Segoe UI Semibold"/>
              </a:rPr>
              <a:t>+ WORKSPACE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0000" y="4670000"/>
            <a:ext cx="9866667" cy="51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100">
                <a:solidFill>
                  <a:srgbClr val="BFFFD1"/>
                </a:solidFill>
                <a:latin typeface="Segoe UI"/>
              </a:rPr>
              <a:t>Choose an isolated worktree or cloud sandbox — or deliberately use your existing local checkout.</a:t>
            </a:r>
          </a:p>
        </p:txBody>
      </p:sp>
      <p:sp>
        <p:nvSpPr>
          <p:cNvPr id="10" name="Shape 10"/>
          <p:cNvSpPr/>
          <p:nvPr/>
        </p:nvSpPr>
        <p:spPr>
          <a:xfrm>
            <a:off x="760000" y="5590000"/>
            <a:ext cx="4933333" cy="500000"/>
          </a:xfrm>
          <a:prstGeom prst="rect">
            <a:avLst/>
          </a:prstGeom>
          <a:noFill/>
        </p:spPr>
        <p:txBody>
          <a:bodyPr rtlCol="0"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1093333" y="5740000"/>
            <a:ext cx="4266667" cy="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100">
                <a:solidFill>
                  <a:srgbClr val="E4EBE6"/>
                </a:solidFill>
                <a:latin typeface="Segoe UI Semibold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50000"/>
            <a:ext cx="10533333" cy="10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800" spc="-100">
                <a:solidFill>
                  <a:srgbClr val="232925"/>
                </a:solidFill>
                <a:latin typeface="Segoe UI Semibold"/>
              </a:rPr>
              <a:t>SEE WHAT NEEDS</a:t>
            </a:r>
          </a:p>
          <a:p>
            <a:r>
              <a:rPr b="1" sz="4800" spc="-100">
                <a:solidFill>
                  <a:srgbClr val="232925"/>
                </a:solidFill>
                <a:latin typeface="Segoe UI Semibold"/>
              </a:rPr>
              <a:t>YOUR JUDGMENT.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0000" y="1930000"/>
            <a:ext cx="9333333" cy="31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 spc="50">
                <a:solidFill>
                  <a:srgbClr val="0E6836"/>
                </a:solidFill>
                <a:latin typeface="Segoe UI Semibold"/>
              </a:rPr>
              <a:t>MY WORK BRINGS ISSUES, PULL REQUESTS, REVIEW REQUESTS, AND COMPLETED WORK TOGETHER.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2840000"/>
            <a:ext cx="3306667" cy="152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4573333" y="2840000"/>
            <a:ext cx="3306667" cy="152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8386667" y="2840000"/>
            <a:ext cx="3040000" cy="152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133333" y="3250000"/>
            <a:ext cx="2533333" cy="3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E4EBE6"/>
                </a:solidFill>
                <a:latin typeface="Segoe UI Semibold"/>
              </a:rPr>
              <a:t>TRIAGE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73333" y="3250000"/>
            <a:ext cx="2533333" cy="3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E4EBE6"/>
                </a:solidFill>
                <a:latin typeface="Segoe UI Semibold"/>
              </a:rPr>
              <a:t>REVIEW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86667" y="3250000"/>
            <a:ext cx="2266667" cy="3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232925"/>
                </a:solidFill>
                <a:latin typeface="Segoe UI Semibold"/>
              </a:rPr>
              <a:t>DELIVER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0000" y="5050000"/>
            <a:ext cx="10533333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00">
                <a:solidFill>
                  <a:srgbClr val="0E6836"/>
                </a:solidFill>
                <a:latin typeface="Segoe UI"/>
              </a:rPr>
              <a:t>Start a session from the issue or pull request already carrying the context.</a:t>
            </a:r>
          </a:p>
        </p:txBody>
      </p:sp>
      <p:sp>
        <p:nvSpPr>
          <p:cNvPr id="13" name="Shape 13"/>
          <p:cNvSpPr/>
          <p:nvPr/>
        </p:nvSpPr>
        <p:spPr>
          <a:xfrm>
            <a:off x="760000" y="5820000"/>
            <a:ext cx="5066667" cy="500000"/>
          </a:xfrm>
          <a:prstGeom prst="rect">
            <a:avLst/>
          </a:prstGeom>
          <a:noFill/>
        </p:spPr>
        <p:txBody>
          <a:bodyPr rtlCol="0"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093333" y="5970000"/>
            <a:ext cx="4400000" cy="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100">
                <a:solidFill>
                  <a:srgbClr val="E4EBE6"/>
                </a:solidFill>
                <a:latin typeface="Segoe UI Semibold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50000"/>
            <a:ext cx="10266667" cy="11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700" spc="-100">
                <a:solidFill>
                  <a:srgbClr val="E4EBE6"/>
                </a:solidFill>
                <a:latin typeface="Segoe UI Semibold"/>
              </a:rPr>
              <a:t>WHEN CHAT IS NOT</a:t>
            </a:r>
          </a:p>
          <a:p>
            <a:r>
              <a:rPr b="1" sz="4700" spc="-100">
                <a:solidFill>
                  <a:srgbClr val="E4EBE6"/>
                </a:solidFill>
                <a:latin typeface="Segoe UI Semibold"/>
              </a:rPr>
              <a:t>ENOUGH, OPEN A CANVAS.</a:t>
            </a:r>
          </a:p>
        </p:txBody>
      </p:sp>
      <p:sp>
        <p:nvSpPr>
          <p:cNvPr id="5" name="Shape 5"/>
          <p:cNvSpPr/>
          <p:nvPr/>
        </p:nvSpPr>
        <p:spPr>
          <a:xfrm>
            <a:off x="4160000" y="2420000"/>
            <a:ext cx="3866667" cy="184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4160000" y="2420000"/>
            <a:ext cx="3866667" cy="15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4866667" y="2940000"/>
            <a:ext cx="2466667" cy="4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100" spc="100">
                <a:solidFill>
                  <a:srgbClr val="E4EBE6"/>
                </a:solidFill>
                <a:latin typeface="Segoe UI Semibold"/>
              </a:rPr>
              <a:t>SHARED</a:t>
            </a:r>
          </a:p>
          <a:p>
            <a:r>
              <a:rPr b="1" sz="2700" spc="100">
                <a:solidFill>
                  <a:srgbClr val="BFFFD1"/>
                </a:solidFill>
                <a:latin typeface="Segoe UI Semibold"/>
              </a:rPr>
              <a:t>WORK SURFACE</a:t>
            </a:r>
          </a:p>
        </p:txBody>
      </p:sp>
      <p:sp>
        <p:nvSpPr>
          <p:cNvPr id="8" name="Shape 8"/>
          <p:cNvSpPr/>
          <p:nvPr/>
        </p:nvSpPr>
        <p:spPr>
          <a:xfrm>
            <a:off x="1133333" y="3040000"/>
            <a:ext cx="2453333" cy="530000"/>
          </a:xfrm>
          <a:prstGeom prst="rightArrow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8973333" y="3040000"/>
            <a:ext cx="2453333" cy="53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60000" y="2590000"/>
            <a:ext cx="2266667" cy="3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500">
                <a:solidFill>
                  <a:srgbClr val="E4EBE6"/>
                </a:solidFill>
                <a:latin typeface="Segoe UI Semibold"/>
              </a:rPr>
              <a:t>PERSON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0000" y="3650000"/>
            <a:ext cx="2266667" cy="3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600">
                <a:solidFill>
                  <a:srgbClr val="BFFFD1"/>
                </a:solidFill>
                <a:latin typeface="Segoe UI"/>
              </a:rPr>
              <a:t>inspect • edit • steer • verify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3333" y="2590000"/>
            <a:ext cx="2266667" cy="3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500">
                <a:solidFill>
                  <a:srgbClr val="E4EBE6"/>
                </a:solidFill>
                <a:latin typeface="Segoe UI Semibold"/>
              </a:rPr>
              <a:t>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00000" y="3650000"/>
            <a:ext cx="2466667" cy="37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800">
                <a:solidFill>
                  <a:srgbClr val="BFFFD1"/>
                </a:solidFill>
                <a:latin typeface="Segoe UI"/>
              </a:rPr>
              <a:t>read • update • act</a:t>
            </a:r>
          </a:p>
        </p:txBody>
      </p:sp>
      <p:sp>
        <p:nvSpPr>
          <p:cNvPr id="14" name="Shape 14"/>
          <p:cNvSpPr/>
          <p:nvPr/>
        </p:nvSpPr>
        <p:spPr>
          <a:xfrm>
            <a:off x="760000" y="5290000"/>
            <a:ext cx="4933333" cy="500000"/>
          </a:xfrm>
          <a:prstGeom prst="rect">
            <a:avLst/>
          </a:prstGeom>
          <a:noFill/>
        </p:spPr>
        <p:txBody>
          <a:bodyPr rtlCol="0"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1093333" y="5440000"/>
            <a:ext cx="4266667" cy="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100">
                <a:solidFill>
                  <a:srgbClr val="E4EBE6"/>
                </a:solidFill>
                <a:latin typeface="Segoe UI Semibold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50000"/>
            <a:ext cx="10666667" cy="10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700" spc="-100">
                <a:solidFill>
                  <a:srgbClr val="232925"/>
                </a:solidFill>
                <a:latin typeface="Segoe UI Semibold"/>
              </a:rPr>
              <a:t>REVIEW THE CHANGE.</a:t>
            </a:r>
          </a:p>
          <a:p>
            <a:r>
              <a:rPr b="1" sz="4700" spc="-100">
                <a:solidFill>
                  <a:srgbClr val="232925"/>
                </a:solidFill>
                <a:latin typeface="Segoe UI Semibold"/>
              </a:rPr>
              <a:t>LAND IT WITH CONTROL.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2450000"/>
            <a:ext cx="3200000" cy="153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4440000" y="2450000"/>
            <a:ext cx="3200000" cy="153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8120000" y="2450000"/>
            <a:ext cx="3306667" cy="153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1133333" y="2870000"/>
            <a:ext cx="24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E4EBE6"/>
                </a:solidFill>
                <a:latin typeface="Segoe UI Semibold"/>
              </a:rPr>
              <a:t>DIFFS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13333" y="2870000"/>
            <a:ext cx="24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500">
                <a:solidFill>
                  <a:srgbClr val="E4EBE6"/>
                </a:solidFill>
                <a:latin typeface="Segoe UI Semibold"/>
              </a:rPr>
              <a:t>CI + FEEDBACK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00000" y="2870000"/>
            <a:ext cx="24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232925"/>
                </a:solidFill>
                <a:latin typeface="Segoe UI Semibold"/>
              </a:rPr>
              <a:t>MERGE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0000" y="4880000"/>
            <a:ext cx="10533333" cy="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000">
                <a:solidFill>
                  <a:srgbClr val="0E6836"/>
                </a:solidFill>
                <a:latin typeface="Segoe UI"/>
              </a:rPr>
              <a:t>Agent merge is explicit: enable it intentionally for one pull request, and it turns itself off after the merge.</a:t>
            </a:r>
          </a:p>
        </p:txBody>
      </p:sp>
      <p:sp>
        <p:nvSpPr>
          <p:cNvPr id="12" name="Shape 12"/>
          <p:cNvSpPr/>
          <p:nvPr/>
        </p:nvSpPr>
        <p:spPr>
          <a:xfrm>
            <a:off x="760000" y="5730000"/>
            <a:ext cx="5466667" cy="500000"/>
          </a:xfrm>
          <a:prstGeom prst="rect">
            <a:avLst/>
          </a:prstGeom>
          <a:noFill/>
        </p:spPr>
        <p:txBody>
          <a:bodyPr rtlCol="0" anchor="ctr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1093333" y="5880000"/>
            <a:ext cx="4800000" cy="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100">
                <a:solidFill>
                  <a:srgbClr val="E4EBE6"/>
                </a:solidFill>
                <a:latin typeface="Segoe UI Semibold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50000"/>
            <a:ext cx="10533333" cy="10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700" spc="-100">
                <a:solidFill>
                  <a:srgbClr val="E4EBE6"/>
                </a:solidFill>
                <a:latin typeface="Segoe UI Semibold"/>
              </a:rPr>
              <a:t>TURN TRUSTED WORK</a:t>
            </a:r>
          </a:p>
          <a:p>
            <a:r>
              <a:rPr b="1" sz="4700" spc="-100">
                <a:solidFill>
                  <a:srgbClr val="E4EBE6"/>
                </a:solidFill>
                <a:latin typeface="Segoe UI Semibold"/>
              </a:rPr>
              <a:t>INTO A WORKFLOW.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0000" y="2090000"/>
            <a:ext cx="10133333" cy="3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50">
                <a:solidFill>
                  <a:srgbClr val="BFFFD1"/>
                </a:solidFill>
                <a:latin typeface="Segoe UI Semibold"/>
              </a:rPr>
              <a:t>ON DEMAND  •  SCHEDULED  •  ISSUE CREATED  •  PR OPENED / UPDATED</a:t>
            </a:r>
          </a:p>
        </p:txBody>
      </p:sp>
      <p:sp>
        <p:nvSpPr>
          <p:cNvPr id="6" name="Shape 6"/>
          <p:cNvSpPr/>
          <p:nvPr/>
        </p:nvSpPr>
        <p:spPr>
          <a:xfrm>
            <a:off x="760000" y="3050000"/>
            <a:ext cx="3333333" cy="680000"/>
          </a:xfrm>
          <a:prstGeom prst="rightArrow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4933333" y="2780000"/>
            <a:ext cx="3466667" cy="125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5440000" y="3200000"/>
            <a:ext cx="2400000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 spc="100">
                <a:solidFill>
                  <a:srgbClr val="E4EBE6"/>
                </a:solidFill>
                <a:latin typeface="Segoe UI Semibold"/>
              </a:rPr>
              <a:t>AUTOMATE</a:t>
            </a:r>
          </a:p>
        </p:txBody>
      </p:sp>
      <p:sp>
        <p:nvSpPr>
          <p:cNvPr id="9" name="Shape 9"/>
          <p:cNvSpPr/>
          <p:nvPr/>
        </p:nvSpPr>
        <p:spPr>
          <a:xfrm>
            <a:off x="8933333" y="3050000"/>
            <a:ext cx="2000000" cy="680000"/>
          </a:xfrm>
          <a:prstGeom prst="rightArrow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60000" y="4890000"/>
            <a:ext cx="10533333" cy="5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600">
                <a:solidFill>
                  <a:srgbClr val="BFFFD1"/>
                </a:solidFill>
                <a:latin typeface="Segoe UI"/>
              </a:rPr>
              <a:t>Cloud automations need a private/internal repo plus cloud agent and enabled policies. Grant only the tools needed.</a:t>
            </a:r>
          </a:p>
        </p:txBody>
      </p:sp>
      <p:sp>
        <p:nvSpPr>
          <p:cNvPr id="11" name="Shape 11"/>
          <p:cNvSpPr/>
          <p:nvPr/>
        </p:nvSpPr>
        <p:spPr>
          <a:xfrm>
            <a:off x="760000" y="5790000"/>
            <a:ext cx="5333333" cy="500000"/>
          </a:xfrm>
          <a:prstGeom prst="rect">
            <a:avLst/>
          </a:prstGeom>
          <a:noFill/>
        </p:spPr>
        <p:txBody>
          <a:bodyPr rtlCol="0" anchor="ctr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093333" y="5940000"/>
            <a:ext cx="4666667" cy="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500" spc="100">
                <a:solidFill>
                  <a:srgbClr val="E4EBE6"/>
                </a:solidFill>
                <a:latin typeface="Segoe UI Semibold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4EBE6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2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650000"/>
            <a:ext cx="10533333" cy="109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4800" spc="-100">
                <a:solidFill>
                  <a:srgbClr val="232925"/>
                </a:solidFill>
                <a:latin typeface="Segoe UI Semibold"/>
              </a:rPr>
              <a:t>ONE WORKBENCH.</a:t>
            </a:r>
          </a:p>
          <a:p>
            <a:r>
              <a:rPr b="1" sz="4800" spc="-100">
                <a:solidFill>
                  <a:srgbClr val="232925"/>
                </a:solidFill>
                <a:latin typeface="Segoe UI Semibold"/>
              </a:rPr>
              <a:t>THE WHOLE LIFECYCLE.</a:t>
            </a:r>
          </a:p>
        </p:txBody>
      </p:sp>
      <p:sp>
        <p:nvSpPr>
          <p:cNvPr id="5" name="Shape 5"/>
          <p:cNvSpPr/>
          <p:nvPr/>
        </p:nvSpPr>
        <p:spPr>
          <a:xfrm>
            <a:off x="760000" y="2530000"/>
            <a:ext cx="1800000" cy="760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2933333" y="2530000"/>
            <a:ext cx="1800000" cy="76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7" name="Shape 7"/>
          <p:cNvSpPr/>
          <p:nvPr/>
        </p:nvSpPr>
        <p:spPr>
          <a:xfrm>
            <a:off x="5106667" y="2530000"/>
            <a:ext cx="1800000" cy="76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7280000" y="2530000"/>
            <a:ext cx="1800000" cy="760000"/>
          </a:xfrm>
          <a:prstGeom prst="rect">
            <a:avLst/>
          </a:prstGeom>
          <a:solidFill>
            <a:srgbClr val="8CF2A9"/>
          </a:solidFill>
        </p:spPr>
        <p:txBody>
          <a:bodyPr rtlCol="0" anchor="ctr"/>
          <a:lstStyle/>
          <a:p/>
        </p:txBody>
      </p:sp>
      <p:sp>
        <p:nvSpPr>
          <p:cNvPr id="9" name="Shape 9"/>
          <p:cNvSpPr/>
          <p:nvPr/>
        </p:nvSpPr>
        <p:spPr>
          <a:xfrm>
            <a:off x="9453333" y="2530000"/>
            <a:ext cx="1973333" cy="760000"/>
          </a:xfrm>
          <a:prstGeom prst="rect">
            <a:avLst/>
          </a:prstGeom>
          <a:solidFill>
            <a:srgbClr val="BFFFD1"/>
          </a:solidFill>
        </p:spPr>
        <p:txBody>
          <a:bodyPr rtlCol="0"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053333" y="2780000"/>
            <a:ext cx="12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E4EBE6"/>
                </a:solidFill>
                <a:latin typeface="Segoe UI Semibold"/>
              </a:rPr>
              <a:t>CHAT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26667" y="2780000"/>
            <a:ext cx="12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E4EBE6"/>
                </a:solidFill>
                <a:latin typeface="Segoe UI Semibold"/>
              </a:rPr>
              <a:t>SESSION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426667" y="2780000"/>
            <a:ext cx="12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101411"/>
                </a:solidFill>
                <a:latin typeface="Segoe UI Semibold"/>
              </a:rPr>
              <a:t>MY WORK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26667" y="2780000"/>
            <a:ext cx="120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232925"/>
                </a:solidFill>
                <a:latin typeface="Segoe UI Semibold"/>
              </a:rPr>
              <a:t>CANVAS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46667" y="2780000"/>
            <a:ext cx="1440000" cy="2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232925"/>
                </a:solidFill>
                <a:latin typeface="Segoe UI Semibold"/>
              </a:rPr>
              <a:t>AUTOMATE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0000" y="4610000"/>
            <a:ext cx="10533333" cy="4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300">
                <a:solidFill>
                  <a:srgbClr val="0E6836"/>
                </a:solidFill>
                <a:latin typeface="Segoe UI"/>
              </a:rPr>
              <a:t>Use the right surface for the work—and keep human judgment in the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411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2000" cy="690000"/>
          </a:xfrm>
          <a:prstGeom prst="rect">
            <a:avLst/>
          </a:prstGeom>
          <a:solidFill>
            <a:srgbClr val="0FBF3E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760000" y="1160000"/>
            <a:ext cx="10533333" cy="112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5400" spc="-150">
                <a:solidFill>
                  <a:srgbClr val="E4EBE6"/>
                </a:solidFill>
                <a:latin typeface="Segoe UI Semibold"/>
              </a:rPr>
              <a:t>SEE THE WORK.</a:t>
            </a:r>
          </a:p>
          <a:p>
            <a:r>
              <a:rPr b="1" sz="5400" spc="-150">
                <a:solidFill>
                  <a:srgbClr val="E4EBE6"/>
                </a:solidFill>
                <a:latin typeface="Segoe UI Semibold"/>
              </a:rPr>
              <a:t>THEN BUILD ON IT.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0000" y="2950000"/>
            <a:ext cx="8933333" cy="38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2200" spc="100">
                <a:solidFill>
                  <a:srgbClr val="8CF2A9"/>
                </a:solidFill>
                <a:latin typeface="Segoe UI Semibold"/>
              </a:rPr>
              <a:t>GITHUB COPILOT APP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0000" y="3470000"/>
            <a:ext cx="8933333" cy="34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100">
                <a:solidFill>
                  <a:srgbClr val="0FBF3E"/>
                </a:solidFill>
                <a:latin typeface="Segoe UI Semibold"/>
              </a:rPr>
              <a:t>gh.io/app</a:t>
            </a:r>
          </a:p>
        </p:txBody>
      </p:sp>
      <p:sp>
        <p:nvSpPr>
          <p:cNvPr id="7" name="Shape 7"/>
          <p:cNvSpPr/>
          <p:nvPr/>
        </p:nvSpPr>
        <p:spPr>
          <a:xfrm>
            <a:off x="760000" y="4630000"/>
            <a:ext cx="7066667" cy="740000"/>
          </a:xfrm>
          <a:prstGeom prst="rect">
            <a:avLst/>
          </a:prstGeom>
          <a:solidFill>
            <a:srgbClr val="0E6836"/>
          </a:solidFill>
        </p:spPr>
        <p:txBody>
          <a:bodyPr rtlCol="0" anchor="ctr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1120000" y="4860000"/>
            <a:ext cx="6400000" cy="24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 spc="100">
                <a:solidFill>
                  <a:srgbClr val="E4EBE6"/>
                </a:solidFill>
                <a:latin typeface="Segoe UI Semibold"/>
              </a:rPr>
              <a:t>NEXT: THE 45-MINUTE CANVAS DEEP DIVE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0000" y="5930000"/>
            <a:ext cx="9466667" cy="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1700">
                <a:solidFill>
                  <a:srgbClr val="BFFFD1"/>
                </a:solidFill>
                <a:latin typeface="Segoe UI"/>
              </a:rPr>
              <a:t>gh.io/dev-days/workshop  •  gh.io/dev-days/feedback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